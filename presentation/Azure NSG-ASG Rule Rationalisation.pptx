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63" r:id="rId3"/>
    <p:sldId id="257" r:id="rId4"/>
    <p:sldId id="258" r:id="rId5"/>
    <p:sldId id="259" r:id="rId6"/>
    <p:sldId id="260" r:id="rId7"/>
    <p:sldId id="261" r:id="rId8"/>
    <p:sldId id="266" r:id="rId9"/>
    <p:sldId id="267" r:id="rId10"/>
    <p:sldId id="276" r:id="rId11"/>
    <p:sldId id="262" r:id="rId12"/>
    <p:sldId id="280" r:id="rId13"/>
    <p:sldId id="264" r:id="rId14"/>
    <p:sldId id="281"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644"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3680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5958348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1435927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2266012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631720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263477"/>
          </a:solidFill>
          <a:ln/>
        </p:spPr>
      </p:sp>
      <p:sp>
        <p:nvSpPr>
          <p:cNvPr id="3" name="Shape 1"/>
          <p:cNvSpPr/>
          <p:nvPr/>
        </p:nvSpPr>
        <p:spPr>
          <a:xfrm>
            <a:off x="10241280" y="4206240"/>
            <a:ext cx="3657600" cy="3657600"/>
          </a:xfrm>
          <a:prstGeom prst="ellipse">
            <a:avLst/>
          </a:prstGeom>
          <a:solidFill>
            <a:srgbClr val="263477"/>
          </a:solidFill>
          <a:ln/>
        </p:spPr>
      </p:sp>
      <p:sp>
        <p:nvSpPr>
          <p:cNvPr id="4" name="Text 2"/>
          <p:cNvSpPr txBox="1"/>
          <p:nvPr/>
        </p:nvSpPr>
        <p:spPr>
          <a:xfrm>
            <a:off x="822960" y="1965960"/>
            <a:ext cx="5486400" cy="365760"/>
          </a:xfrm>
          <a:prstGeom prst="rect">
            <a:avLst/>
          </a:prstGeom>
          <a:noFill/>
          <a:ln/>
        </p:spPr>
        <p:txBody>
          <a:bodyPr wrap="square" lIns="0" tIns="0" rIns="0" bIns="0" rtlCol="0" anchor="ctr"/>
          <a:lstStyle/>
          <a:p>
            <a:pPr marL="0" indent="0">
              <a:buNone/>
            </a:pPr>
            <a:r>
              <a:rPr lang="en-US" sz="1300" b="1" kern="0" spc="200" dirty="0">
                <a:solidFill>
                  <a:srgbClr val="CADCFC"/>
                </a:solidFill>
                <a:latin typeface="Calibri" pitchFamily="34" charset="0"/>
                <a:ea typeface="Calibri" pitchFamily="34" charset="-122"/>
                <a:cs typeface="Calibri" pitchFamily="34" charset="-120"/>
              </a:rPr>
              <a:t>PROJECT 24CC3046-P028</a:t>
            </a:r>
            <a:endParaRPr lang="en-US" sz="1300" dirty="0"/>
          </a:p>
        </p:txBody>
      </p:sp>
      <p:sp>
        <p:nvSpPr>
          <p:cNvPr id="5" name="Text 3"/>
          <p:cNvSpPr txBox="1"/>
          <p:nvPr/>
        </p:nvSpPr>
        <p:spPr>
          <a:xfrm>
            <a:off x="822960" y="2377440"/>
            <a:ext cx="9875520" cy="1828800"/>
          </a:xfrm>
          <a:prstGeom prst="rect">
            <a:avLst/>
          </a:prstGeom>
          <a:noFill/>
          <a:ln/>
        </p:spPr>
        <p:txBody>
          <a:bodyPr wrap="square" lIns="0" tIns="0" rIns="0" bIns="0" rtlCol="0" anchor="ctr"/>
          <a:lstStyle/>
          <a:p>
            <a:pPr marL="0" indent="0">
              <a:lnSpc>
                <a:spcPct val="108000"/>
              </a:lnSpc>
              <a:buNone/>
            </a:pPr>
            <a:r>
              <a:rPr lang="en-US" sz="4200" b="1" dirty="0">
                <a:solidFill>
                  <a:srgbClr val="FFFFFF"/>
                </a:solidFill>
                <a:latin typeface="Cambria" pitchFamily="34" charset="0"/>
                <a:ea typeface="Cambria" pitchFamily="34" charset="-122"/>
                <a:cs typeface="Cambria" pitchFamily="34" charset="-120"/>
              </a:rPr>
              <a:t>Azure Network Security Group</a:t>
            </a:r>
            <a:endParaRPr lang="en-US" sz="4200" dirty="0"/>
          </a:p>
          <a:p>
            <a:pPr marL="0" indent="0">
              <a:lnSpc>
                <a:spcPct val="108000"/>
              </a:lnSpc>
              <a:buNone/>
            </a:pPr>
            <a:r>
              <a:rPr lang="en-US" sz="4200" b="1" dirty="0">
                <a:solidFill>
                  <a:srgbClr val="FFFFFF"/>
                </a:solidFill>
                <a:latin typeface="Cambria" pitchFamily="34" charset="0"/>
                <a:ea typeface="Cambria" pitchFamily="34" charset="-122"/>
                <a:cs typeface="Cambria" pitchFamily="34" charset="-120"/>
              </a:rPr>
              <a:t>and ASG Rule Rationalisation</a:t>
            </a:r>
            <a:endParaRPr lang="en-US" sz="4200" dirty="0"/>
          </a:p>
        </p:txBody>
      </p:sp>
      <p:sp>
        <p:nvSpPr>
          <p:cNvPr id="6" name="Text 4"/>
          <p:cNvSpPr txBox="1"/>
          <p:nvPr/>
        </p:nvSpPr>
        <p:spPr>
          <a:xfrm>
            <a:off x="822960" y="4251960"/>
            <a:ext cx="8686800" cy="457200"/>
          </a:xfrm>
          <a:prstGeom prst="rect">
            <a:avLst/>
          </a:prstGeom>
          <a:noFill/>
          <a:ln/>
        </p:spPr>
        <p:txBody>
          <a:bodyPr wrap="square" lIns="0" tIns="0" rIns="0" bIns="0"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Moving from sprawling IP-based rules to a leaner, application-aware NSG design</a:t>
            </a:r>
            <a:endParaRPr lang="en-US" sz="1600" dirty="0"/>
          </a:p>
        </p:txBody>
      </p:sp>
      <p:sp>
        <p:nvSpPr>
          <p:cNvPr id="7" name="Shape 5"/>
          <p:cNvSpPr/>
          <p:nvPr/>
        </p:nvSpPr>
        <p:spPr>
          <a:xfrm>
            <a:off x="822960" y="5148072"/>
            <a:ext cx="146304" cy="146304"/>
          </a:xfrm>
          <a:prstGeom prst="ellipse">
            <a:avLst/>
          </a:prstGeom>
          <a:solidFill>
            <a:srgbClr val="E8A33D"/>
          </a:solidFill>
          <a:ln/>
        </p:spPr>
      </p:sp>
      <p:sp>
        <p:nvSpPr>
          <p:cNvPr id="8" name="Text 6"/>
          <p:cNvSpPr txBox="1"/>
          <p:nvPr/>
        </p:nvSpPr>
        <p:spPr>
          <a:xfrm>
            <a:off x="1143000" y="5010912"/>
            <a:ext cx="8229600" cy="36576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Replace IP-based rules with Application Security Groups</a:t>
            </a:r>
            <a:endParaRPr lang="en-US" sz="1400" dirty="0"/>
          </a:p>
        </p:txBody>
      </p:sp>
      <p:sp>
        <p:nvSpPr>
          <p:cNvPr id="9" name="Shape 7"/>
          <p:cNvSpPr/>
          <p:nvPr/>
        </p:nvSpPr>
        <p:spPr>
          <a:xfrm>
            <a:off x="822960" y="5650992"/>
            <a:ext cx="146304" cy="146304"/>
          </a:xfrm>
          <a:prstGeom prst="ellipse">
            <a:avLst/>
          </a:prstGeom>
          <a:solidFill>
            <a:srgbClr val="E8A33D"/>
          </a:solidFill>
          <a:ln/>
        </p:spPr>
      </p:sp>
      <p:sp>
        <p:nvSpPr>
          <p:cNvPr id="10" name="Text 8"/>
          <p:cNvSpPr txBox="1"/>
          <p:nvPr/>
        </p:nvSpPr>
        <p:spPr>
          <a:xfrm>
            <a:off x="1143000" y="5513832"/>
            <a:ext cx="8229600" cy="36576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Reduce total NSG rule count by half</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DE5F12-70C8-F3E9-D377-7824353C00BA}"/>
              </a:ext>
            </a:extLst>
          </p:cNvPr>
          <p:cNvSpPr txBox="1"/>
          <p:nvPr/>
        </p:nvSpPr>
        <p:spPr>
          <a:xfrm>
            <a:off x="868018" y="882999"/>
            <a:ext cx="10217426" cy="5262979"/>
          </a:xfrm>
          <a:prstGeom prst="rect">
            <a:avLst/>
          </a:prstGeom>
          <a:noFill/>
        </p:spPr>
        <p:txBody>
          <a:bodyPr wrap="square" rtlCol="0">
            <a:spAutoFit/>
          </a:bodyPr>
          <a:lstStyle/>
          <a:p>
            <a:r>
              <a:rPr lang="en-US" sz="2400" dirty="0">
                <a:solidFill>
                  <a:schemeClr val="accent1">
                    <a:lumMod val="75000"/>
                  </a:schemeClr>
                </a:solidFill>
              </a:rPr>
              <a:t>Team Members:</a:t>
            </a:r>
          </a:p>
          <a:p>
            <a:endParaRPr lang="en-US" sz="2400" dirty="0">
              <a:solidFill>
                <a:schemeClr val="accent1">
                  <a:lumMod val="75000"/>
                </a:schemeClr>
              </a:solidFill>
            </a:endParaRPr>
          </a:p>
          <a:p>
            <a:pPr marL="342900" indent="-342900">
              <a:buFont typeface="Wingdings" panose="05000000000000000000" pitchFamily="2" charset="2"/>
              <a:buChar char="§"/>
            </a:pPr>
            <a:r>
              <a:rPr lang="en-US" sz="2400" dirty="0">
                <a:solidFill>
                  <a:schemeClr val="accent1">
                    <a:lumMod val="75000"/>
                  </a:schemeClr>
                </a:solidFill>
              </a:rPr>
              <a:t>2400090203-Bogesh:</a:t>
            </a:r>
          </a:p>
          <a:p>
            <a:r>
              <a:rPr lang="en-US" sz="2400" dirty="0">
                <a:solidFill>
                  <a:schemeClr val="accent1">
                    <a:lumMod val="75000"/>
                  </a:schemeClr>
                </a:solidFill>
              </a:rPr>
              <a:t>           </a:t>
            </a:r>
            <a:r>
              <a:rPr lang="en-US" sz="2400" dirty="0">
                <a:solidFill>
                  <a:schemeClr val="tx1">
                    <a:lumMod val="65000"/>
                    <a:lumOff val="35000"/>
                  </a:schemeClr>
                </a:solidFill>
              </a:rPr>
              <a:t>Team lead and Azure architecture(Azure </a:t>
            </a:r>
            <a:r>
              <a:rPr lang="en-US" sz="2400" dirty="0" err="1">
                <a:solidFill>
                  <a:schemeClr val="tx1">
                    <a:lumMod val="65000"/>
                    <a:lumOff val="35000"/>
                  </a:schemeClr>
                </a:solidFill>
              </a:rPr>
              <a:t>Resourses</a:t>
            </a:r>
            <a:r>
              <a:rPr lang="en-US" sz="2400" dirty="0">
                <a:solidFill>
                  <a:schemeClr val="tx1">
                    <a:lumMod val="65000"/>
                    <a:lumOff val="35000"/>
                  </a:schemeClr>
                </a:solidFill>
              </a:rPr>
              <a:t>)</a:t>
            </a:r>
          </a:p>
          <a:p>
            <a:endParaRPr lang="en-US" sz="2400" dirty="0">
              <a:solidFill>
                <a:schemeClr val="tx1">
                  <a:lumMod val="65000"/>
                  <a:lumOff val="35000"/>
                </a:schemeClr>
              </a:solidFill>
            </a:endParaRPr>
          </a:p>
          <a:p>
            <a:pPr marL="342900" indent="-342900">
              <a:buFont typeface="Wingdings" panose="05000000000000000000" pitchFamily="2" charset="2"/>
              <a:buChar char="§"/>
            </a:pPr>
            <a:r>
              <a:rPr lang="en-US" sz="2400" dirty="0">
                <a:solidFill>
                  <a:schemeClr val="accent1">
                    <a:lumMod val="75000"/>
                  </a:schemeClr>
                </a:solidFill>
              </a:rPr>
              <a:t>2400090205-Venkatesh:</a:t>
            </a:r>
          </a:p>
          <a:p>
            <a:r>
              <a:rPr lang="en-US" sz="2400" dirty="0">
                <a:solidFill>
                  <a:schemeClr val="accent1">
                    <a:lumMod val="75000"/>
                  </a:schemeClr>
                </a:solidFill>
              </a:rPr>
              <a:t>            </a:t>
            </a:r>
            <a:r>
              <a:rPr lang="en-US" sz="2400" dirty="0">
                <a:solidFill>
                  <a:schemeClr val="tx1">
                    <a:lumMod val="65000"/>
                    <a:lumOff val="35000"/>
                  </a:schemeClr>
                </a:solidFill>
              </a:rPr>
              <a:t>NSG rules ,priorities and security analysis</a:t>
            </a:r>
          </a:p>
          <a:p>
            <a:endParaRPr lang="en-US" sz="2400" dirty="0">
              <a:solidFill>
                <a:schemeClr val="tx1">
                  <a:lumMod val="65000"/>
                  <a:lumOff val="35000"/>
                </a:schemeClr>
              </a:solidFill>
            </a:endParaRPr>
          </a:p>
          <a:p>
            <a:pPr marL="342900" indent="-342900">
              <a:buFont typeface="Wingdings" panose="05000000000000000000" pitchFamily="2" charset="2"/>
              <a:buChar char="§"/>
            </a:pPr>
            <a:r>
              <a:rPr lang="en-US" sz="2400" dirty="0">
                <a:solidFill>
                  <a:schemeClr val="accent1">
                    <a:lumMod val="75000"/>
                  </a:schemeClr>
                </a:solidFill>
              </a:rPr>
              <a:t>2400090219-Lasya:</a:t>
            </a:r>
          </a:p>
          <a:p>
            <a:r>
              <a:rPr lang="en-US" sz="2400" dirty="0">
                <a:solidFill>
                  <a:schemeClr val="accent1">
                    <a:lumMod val="75000"/>
                  </a:schemeClr>
                </a:solidFill>
              </a:rPr>
              <a:t>            </a:t>
            </a:r>
            <a:r>
              <a:rPr lang="en-US" sz="2400" dirty="0">
                <a:solidFill>
                  <a:schemeClr val="tx1">
                    <a:lumMod val="65000"/>
                    <a:lumOff val="35000"/>
                  </a:schemeClr>
                </a:solidFill>
              </a:rPr>
              <a:t>Configuring Virtual network(Web, App subnets)</a:t>
            </a:r>
          </a:p>
          <a:p>
            <a:endParaRPr lang="en-US" sz="2400" dirty="0">
              <a:solidFill>
                <a:schemeClr val="tx1">
                  <a:lumMod val="65000"/>
                  <a:lumOff val="35000"/>
                </a:schemeClr>
              </a:solidFill>
            </a:endParaRPr>
          </a:p>
          <a:p>
            <a:pPr marL="342900" indent="-342900">
              <a:buFont typeface="Wingdings" panose="05000000000000000000" pitchFamily="2" charset="2"/>
              <a:buChar char="§"/>
            </a:pPr>
            <a:r>
              <a:rPr lang="en-US" sz="2400" dirty="0">
                <a:solidFill>
                  <a:schemeClr val="accent1">
                    <a:lumMod val="75000"/>
                  </a:schemeClr>
                </a:solidFill>
              </a:rPr>
              <a:t>2400090220-Mounisha:</a:t>
            </a:r>
          </a:p>
          <a:p>
            <a:r>
              <a:rPr lang="en-US" sz="2400" dirty="0">
                <a:solidFill>
                  <a:schemeClr val="accent1">
                    <a:lumMod val="75000"/>
                  </a:schemeClr>
                </a:solidFill>
              </a:rPr>
              <a:t>       </a:t>
            </a:r>
            <a:r>
              <a:rPr lang="en-US" sz="2400" dirty="0">
                <a:solidFill>
                  <a:schemeClr val="bg2">
                    <a:lumMod val="50000"/>
                  </a:schemeClr>
                </a:solidFill>
              </a:rPr>
              <a:t>   </a:t>
            </a:r>
            <a:r>
              <a:rPr lang="en-US" sz="2400" dirty="0">
                <a:solidFill>
                  <a:schemeClr val="tx1">
                    <a:lumMod val="65000"/>
                    <a:lumOff val="35000"/>
                  </a:schemeClr>
                </a:solidFill>
              </a:rPr>
              <a:t>  IP to ASG mapping ,duplicate rules analysis</a:t>
            </a:r>
          </a:p>
          <a:p>
            <a:pPr marL="342900" indent="-342900">
              <a:buFont typeface="Wingdings" panose="05000000000000000000" pitchFamily="2" charset="2"/>
              <a:buChar char="§"/>
            </a:pPr>
            <a:endParaRPr lang="en-US" sz="2400" dirty="0">
              <a:solidFill>
                <a:schemeClr val="tx1">
                  <a:lumMod val="65000"/>
                  <a:lumOff val="35000"/>
                </a:schemeClr>
              </a:solidFill>
            </a:endParaRPr>
          </a:p>
        </p:txBody>
      </p:sp>
    </p:spTree>
    <p:extLst>
      <p:ext uri="{BB962C8B-B14F-4D97-AF65-F5344CB8AC3E}">
        <p14:creationId xmlns:p14="http://schemas.microsoft.com/office/powerpoint/2010/main" val="17360255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CONTEXT</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Problem Statement</a:t>
            </a:r>
            <a:endParaRPr lang="en-US" sz="2800" dirty="0"/>
          </a:p>
        </p:txBody>
      </p:sp>
      <p:sp>
        <p:nvSpPr>
          <p:cNvPr id="4" name="Text 2"/>
          <p:cNvSpPr txBox="1"/>
          <p:nvPr/>
        </p:nvSpPr>
        <p:spPr>
          <a:xfrm>
            <a:off x="548640" y="1600200"/>
            <a:ext cx="6035040" cy="1463040"/>
          </a:xfrm>
          <a:prstGeom prst="rect">
            <a:avLst/>
          </a:prstGeom>
          <a:noFill/>
          <a:ln/>
        </p:spPr>
        <p:txBody>
          <a:bodyPr wrap="square" lIns="0" tIns="0" rIns="0" bIns="0" rtlCol="0" anchor="ctr"/>
          <a:lstStyle/>
          <a:p>
            <a:pPr marL="0" indent="0">
              <a:lnSpc>
                <a:spcPct val="125000"/>
              </a:lnSpc>
              <a:buNone/>
            </a:pPr>
            <a:r>
              <a:rPr lang="en-US" sz="1450" dirty="0">
                <a:solidFill>
                  <a:srgbClr val="22293B"/>
                </a:solidFill>
                <a:latin typeface="Calibri" pitchFamily="34" charset="0"/>
                <a:ea typeface="Calibri" pitchFamily="34" charset="-122"/>
                <a:cs typeface="Calibri" pitchFamily="34" charset="-120"/>
              </a:rPr>
              <a:t>As Azure environments grow, Network Security Groups accumulate large numbers of rules written against individual IP addresses and CIDR ranges. Rules are added faster than they are retired, so the ruleset stops reflecting the actual application architecture.</a:t>
            </a:r>
            <a:endParaRPr lang="en-US" sz="1450" dirty="0"/>
          </a:p>
        </p:txBody>
      </p:sp>
      <p:sp>
        <p:nvSpPr>
          <p:cNvPr id="5" name="Text 3"/>
          <p:cNvSpPr txBox="1"/>
          <p:nvPr/>
        </p:nvSpPr>
        <p:spPr>
          <a:xfrm>
            <a:off x="548640" y="3063240"/>
            <a:ext cx="6035040" cy="914400"/>
          </a:xfrm>
          <a:prstGeom prst="rect">
            <a:avLst/>
          </a:prstGeom>
          <a:noFill/>
          <a:ln/>
        </p:spPr>
        <p:txBody>
          <a:bodyPr wrap="square" lIns="0" tIns="0" rIns="0" bIns="0" rtlCol="0" anchor="ctr"/>
          <a:lstStyle/>
          <a:p>
            <a:pPr marL="0" indent="0">
              <a:lnSpc>
                <a:spcPct val="125000"/>
              </a:lnSpc>
              <a:buNone/>
            </a:pPr>
            <a:r>
              <a:rPr lang="en-US" sz="1450" dirty="0">
                <a:solidFill>
                  <a:srgbClr val="22293B"/>
                </a:solidFill>
                <a:latin typeface="Calibri" pitchFamily="34" charset="0"/>
                <a:ea typeface="Calibri" pitchFamily="34" charset="-122"/>
                <a:cs typeface="Calibri" pitchFamily="34" charset="-120"/>
              </a:rPr>
              <a:t>The result: rulesets that are hard to audit, slow to change safely, and prone to hiding both unnecessary exposure and unintended blocking.</a:t>
            </a:r>
            <a:endParaRPr lang="en-US" sz="1450" dirty="0"/>
          </a:p>
        </p:txBody>
      </p:sp>
      <p:sp>
        <p:nvSpPr>
          <p:cNvPr id="6" name="Shape 4"/>
          <p:cNvSpPr/>
          <p:nvPr/>
        </p:nvSpPr>
        <p:spPr>
          <a:xfrm>
            <a:off x="548640" y="4160520"/>
            <a:ext cx="6035040" cy="1417320"/>
          </a:xfrm>
          <a:prstGeom prst="roundRect">
            <a:avLst>
              <a:gd name="adj" fmla="val 5161"/>
            </a:avLst>
          </a:prstGeom>
          <a:solidFill>
            <a:srgbClr val="CADCFC"/>
          </a:solidFill>
          <a:ln/>
        </p:spPr>
      </p:sp>
      <p:sp>
        <p:nvSpPr>
          <p:cNvPr id="7" name="Text 5"/>
          <p:cNvSpPr txBox="1"/>
          <p:nvPr/>
        </p:nvSpPr>
        <p:spPr>
          <a:xfrm>
            <a:off x="822960" y="4315968"/>
            <a:ext cx="3657600" cy="274320"/>
          </a:xfrm>
          <a:prstGeom prst="rect">
            <a:avLst/>
          </a:prstGeom>
          <a:noFill/>
          <a:ln/>
        </p:spPr>
        <p:txBody>
          <a:bodyPr wrap="square" lIns="0" tIns="0" rIns="0" bIns="0" rtlCol="0" anchor="ctr"/>
          <a:lstStyle/>
          <a:p>
            <a:pPr marL="0" indent="0">
              <a:buNone/>
            </a:pPr>
            <a:r>
              <a:rPr lang="en-US" sz="1100" b="1" kern="0" spc="200" dirty="0">
                <a:solidFill>
                  <a:srgbClr val="1E2761"/>
                </a:solidFill>
                <a:latin typeface="Calibri" pitchFamily="34" charset="0"/>
                <a:ea typeface="Calibri" pitchFamily="34" charset="-122"/>
                <a:cs typeface="Calibri" pitchFamily="34" charset="-120"/>
              </a:rPr>
              <a:t>GOAL</a:t>
            </a:r>
            <a:endParaRPr lang="en-US" sz="1100" dirty="0"/>
          </a:p>
        </p:txBody>
      </p:sp>
      <p:sp>
        <p:nvSpPr>
          <p:cNvPr id="8" name="Text 6"/>
          <p:cNvSpPr txBox="1"/>
          <p:nvPr/>
        </p:nvSpPr>
        <p:spPr>
          <a:xfrm>
            <a:off x="822960" y="4572000"/>
            <a:ext cx="5394960" cy="914400"/>
          </a:xfrm>
          <a:prstGeom prst="rect">
            <a:avLst/>
          </a:prstGeom>
          <a:noFill/>
          <a:ln/>
        </p:spPr>
        <p:txBody>
          <a:bodyPr wrap="square" lIns="0" tIns="0" rIns="0" bIns="0" rtlCol="0" anchor="ctr"/>
          <a:lstStyle/>
          <a:p>
            <a:pPr marL="0" indent="0">
              <a:lnSpc>
                <a:spcPct val="120000"/>
              </a:lnSpc>
              <a:buNone/>
            </a:pPr>
            <a:r>
              <a:rPr lang="en-US" sz="1450" b="1" dirty="0">
                <a:solidFill>
                  <a:srgbClr val="1E2761"/>
                </a:solidFill>
                <a:latin typeface="Calibri" pitchFamily="34" charset="0"/>
                <a:ea typeface="Calibri" pitchFamily="34" charset="-122"/>
                <a:cs typeface="Calibri" pitchFamily="34" charset="-120"/>
              </a:rPr>
              <a:t>Rationalise NSG / ASG rules for a leaner, application-aware, and auditable security posture.</a:t>
            </a:r>
            <a:endParaRPr lang="en-US" sz="1450" dirty="0"/>
          </a:p>
        </p:txBody>
      </p:sp>
      <p:sp>
        <p:nvSpPr>
          <p:cNvPr id="9" name="Shape 7"/>
          <p:cNvSpPr/>
          <p:nvPr/>
        </p:nvSpPr>
        <p:spPr>
          <a:xfrm>
            <a:off x="7040880" y="1691640"/>
            <a:ext cx="4663440" cy="1783080"/>
          </a:xfrm>
          <a:prstGeom prst="roundRect">
            <a:avLst>
              <a:gd name="adj" fmla="val 4615"/>
            </a:avLst>
          </a:prstGeom>
          <a:solidFill>
            <a:srgbClr val="F4F6FB"/>
          </a:solidFill>
          <a:ln w="12700">
            <a:solidFill>
              <a:srgbClr val="CADCFC"/>
            </a:solidFill>
            <a:prstDash val="solid"/>
          </a:ln>
        </p:spPr>
      </p:sp>
      <p:sp>
        <p:nvSpPr>
          <p:cNvPr id="10" name="Shape 8"/>
          <p:cNvSpPr/>
          <p:nvPr/>
        </p:nvSpPr>
        <p:spPr>
          <a:xfrm>
            <a:off x="7296912" y="1947672"/>
            <a:ext cx="640080" cy="640080"/>
          </a:xfrm>
          <a:prstGeom prst="ellipse">
            <a:avLst/>
          </a:prstGeom>
          <a:solidFill>
            <a:srgbClr val="1E2761"/>
          </a:solidFill>
          <a:ln/>
        </p:spPr>
      </p:sp>
      <p:sp>
        <p:nvSpPr>
          <p:cNvPr id="11" name="Text 9"/>
          <p:cNvSpPr txBox="1"/>
          <p:nvPr/>
        </p:nvSpPr>
        <p:spPr>
          <a:xfrm>
            <a:off x="7296912" y="1947672"/>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01</a:t>
            </a:r>
            <a:endParaRPr lang="en-US" sz="1800" dirty="0"/>
          </a:p>
        </p:txBody>
      </p:sp>
      <p:sp>
        <p:nvSpPr>
          <p:cNvPr id="12" name="Text 10"/>
          <p:cNvSpPr txBox="1"/>
          <p:nvPr/>
        </p:nvSpPr>
        <p:spPr>
          <a:xfrm>
            <a:off x="8138160" y="1892808"/>
            <a:ext cx="3383280" cy="548640"/>
          </a:xfrm>
          <a:prstGeom prst="rect">
            <a:avLst/>
          </a:prstGeom>
          <a:noFill/>
          <a:ln/>
        </p:spPr>
        <p:txBody>
          <a:bodyPr wrap="square" lIns="0" tIns="0" rIns="0" bIns="0" rtlCol="0" anchor="ctr"/>
          <a:lstStyle/>
          <a:p>
            <a:pPr marL="0" indent="0">
              <a:lnSpc>
                <a:spcPct val="105000"/>
              </a:lnSpc>
              <a:buNone/>
            </a:pPr>
            <a:r>
              <a:rPr lang="en-US" sz="1600" b="1" dirty="0">
                <a:solidFill>
                  <a:srgbClr val="1E2761"/>
                </a:solidFill>
                <a:latin typeface="Calibri" pitchFamily="34" charset="0"/>
                <a:ea typeface="Calibri" pitchFamily="34" charset="-122"/>
                <a:cs typeface="Calibri" pitchFamily="34" charset="-120"/>
              </a:rPr>
              <a:t>Replace IP-based rules with ASGs</a:t>
            </a:r>
            <a:endParaRPr lang="en-US" sz="1600" dirty="0"/>
          </a:p>
        </p:txBody>
      </p:sp>
      <p:sp>
        <p:nvSpPr>
          <p:cNvPr id="13" name="Text 11"/>
          <p:cNvSpPr txBox="1"/>
          <p:nvPr/>
        </p:nvSpPr>
        <p:spPr>
          <a:xfrm>
            <a:off x="8138160" y="2468880"/>
            <a:ext cx="3383280" cy="548640"/>
          </a:xfrm>
          <a:prstGeom prst="rect">
            <a:avLst/>
          </a:prstGeom>
          <a:noFill/>
          <a:ln/>
        </p:spPr>
        <p:txBody>
          <a:bodyPr wrap="square" lIns="0" tIns="0" rIns="0" bIns="0" rtlCol="0" anchor="ctr"/>
          <a:lstStyle/>
          <a:p>
            <a:pPr marL="0" indent="0">
              <a:lnSpc>
                <a:spcPct val="115000"/>
              </a:lnSpc>
              <a:buNone/>
            </a:pPr>
            <a:r>
              <a:rPr lang="en-US" sz="1250" dirty="0">
                <a:solidFill>
                  <a:srgbClr val="5A6478"/>
                </a:solidFill>
                <a:latin typeface="Calibri" pitchFamily="34" charset="0"/>
                <a:ea typeface="Calibri" pitchFamily="34" charset="-122"/>
                <a:cs typeface="Calibri" pitchFamily="34" charset="-120"/>
              </a:rPr>
              <a:t>Group resources by role instead of address.</a:t>
            </a:r>
            <a:endParaRPr lang="en-US" sz="1250" dirty="0"/>
          </a:p>
        </p:txBody>
      </p:sp>
      <p:sp>
        <p:nvSpPr>
          <p:cNvPr id="14" name="Shape 12"/>
          <p:cNvSpPr/>
          <p:nvPr/>
        </p:nvSpPr>
        <p:spPr>
          <a:xfrm>
            <a:off x="7040880" y="3749040"/>
            <a:ext cx="4663440" cy="1783080"/>
          </a:xfrm>
          <a:prstGeom prst="roundRect">
            <a:avLst>
              <a:gd name="adj" fmla="val 4615"/>
            </a:avLst>
          </a:prstGeom>
          <a:solidFill>
            <a:srgbClr val="F4F6FB"/>
          </a:solidFill>
          <a:ln w="12700">
            <a:solidFill>
              <a:srgbClr val="CADCFC"/>
            </a:solidFill>
            <a:prstDash val="solid"/>
          </a:ln>
        </p:spPr>
      </p:sp>
      <p:sp>
        <p:nvSpPr>
          <p:cNvPr id="15" name="Shape 13"/>
          <p:cNvSpPr/>
          <p:nvPr/>
        </p:nvSpPr>
        <p:spPr>
          <a:xfrm>
            <a:off x="7296912" y="4005072"/>
            <a:ext cx="640080" cy="640080"/>
          </a:xfrm>
          <a:prstGeom prst="ellipse">
            <a:avLst/>
          </a:prstGeom>
          <a:solidFill>
            <a:srgbClr val="1E2761"/>
          </a:solidFill>
          <a:ln/>
        </p:spPr>
      </p:sp>
      <p:sp>
        <p:nvSpPr>
          <p:cNvPr id="16" name="Text 14"/>
          <p:cNvSpPr txBox="1"/>
          <p:nvPr/>
        </p:nvSpPr>
        <p:spPr>
          <a:xfrm>
            <a:off x="7296912" y="4005072"/>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02</a:t>
            </a:r>
            <a:endParaRPr lang="en-US" sz="1800" dirty="0"/>
          </a:p>
        </p:txBody>
      </p:sp>
      <p:sp>
        <p:nvSpPr>
          <p:cNvPr id="17" name="Text 15"/>
          <p:cNvSpPr txBox="1"/>
          <p:nvPr/>
        </p:nvSpPr>
        <p:spPr>
          <a:xfrm>
            <a:off x="8138160" y="3950208"/>
            <a:ext cx="3383280" cy="548640"/>
          </a:xfrm>
          <a:prstGeom prst="rect">
            <a:avLst/>
          </a:prstGeom>
          <a:noFill/>
          <a:ln/>
        </p:spPr>
        <p:txBody>
          <a:bodyPr wrap="square" lIns="0" tIns="0" rIns="0" bIns="0" rtlCol="0" anchor="ctr"/>
          <a:lstStyle/>
          <a:p>
            <a:pPr marL="0" indent="0">
              <a:lnSpc>
                <a:spcPct val="105000"/>
              </a:lnSpc>
              <a:buNone/>
            </a:pPr>
            <a:r>
              <a:rPr lang="en-US" sz="1600" b="1" dirty="0">
                <a:solidFill>
                  <a:srgbClr val="1E2761"/>
                </a:solidFill>
                <a:latin typeface="Calibri" pitchFamily="34" charset="0"/>
                <a:ea typeface="Calibri" pitchFamily="34" charset="-122"/>
                <a:cs typeface="Calibri" pitchFamily="34" charset="-120"/>
              </a:rPr>
              <a:t>Reduce rule count by half</a:t>
            </a:r>
            <a:endParaRPr lang="en-US" sz="1600" dirty="0"/>
          </a:p>
        </p:txBody>
      </p:sp>
      <p:sp>
        <p:nvSpPr>
          <p:cNvPr id="18" name="Text 16"/>
          <p:cNvSpPr txBox="1"/>
          <p:nvPr/>
        </p:nvSpPr>
        <p:spPr>
          <a:xfrm>
            <a:off x="8138160" y="4526280"/>
            <a:ext cx="3383280" cy="548640"/>
          </a:xfrm>
          <a:prstGeom prst="rect">
            <a:avLst/>
          </a:prstGeom>
          <a:noFill/>
          <a:ln/>
        </p:spPr>
        <p:txBody>
          <a:bodyPr wrap="square" lIns="0" tIns="0" rIns="0" bIns="0" rtlCol="0" anchor="ctr"/>
          <a:lstStyle/>
          <a:p>
            <a:pPr marL="0" indent="0">
              <a:lnSpc>
                <a:spcPct val="115000"/>
              </a:lnSpc>
              <a:buNone/>
            </a:pPr>
            <a:r>
              <a:rPr lang="en-US" sz="1250" dirty="0">
                <a:solidFill>
                  <a:srgbClr val="5A6478"/>
                </a:solidFill>
                <a:latin typeface="Calibri" pitchFamily="34" charset="0"/>
                <a:ea typeface="Calibri" pitchFamily="34" charset="-122"/>
                <a:cs typeface="Calibri" pitchFamily="34" charset="-120"/>
              </a:rPr>
              <a:t>Consolidate and remove redundant rules.</a:t>
            </a:r>
            <a:endParaRPr lang="en-US" sz="1250" dirty="0"/>
          </a:p>
        </p:txBody>
      </p:sp>
      <p:sp>
        <p:nvSpPr>
          <p:cNvPr id="19" name="Text 17"/>
          <p:cNvSpPr txBox="1"/>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USE CASE 1</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Replace IP-Based Rules with ASGs</a:t>
            </a:r>
            <a:endParaRPr lang="en-US" sz="2800" dirty="0"/>
          </a:p>
        </p:txBody>
      </p:sp>
      <p:sp>
        <p:nvSpPr>
          <p:cNvPr id="21" name="Shape 19"/>
          <p:cNvSpPr/>
          <p:nvPr/>
        </p:nvSpPr>
        <p:spPr>
          <a:xfrm>
            <a:off x="548640" y="5212080"/>
            <a:ext cx="11247120" cy="777240"/>
          </a:xfrm>
          <a:prstGeom prst="roundRect">
            <a:avLst>
              <a:gd name="adj" fmla="val 9412"/>
            </a:avLst>
          </a:prstGeom>
          <a:solidFill>
            <a:srgbClr val="1E2761"/>
          </a:solidFill>
          <a:ln/>
        </p:spPr>
      </p:sp>
      <p:sp>
        <p:nvSpPr>
          <p:cNvPr id="22" name="Text 20"/>
          <p:cNvSpPr txBox="1"/>
          <p:nvPr/>
        </p:nvSpPr>
        <p:spPr>
          <a:xfrm>
            <a:off x="868680" y="5212080"/>
            <a:ext cx="2011680" cy="777240"/>
          </a:xfrm>
          <a:prstGeom prst="rect">
            <a:avLst/>
          </a:prstGeom>
          <a:noFill/>
          <a:ln/>
        </p:spPr>
        <p:txBody>
          <a:bodyPr wrap="square" lIns="0" tIns="0" rIns="0" bIns="0" rtlCol="0" anchor="ctr"/>
          <a:lstStyle/>
          <a:p>
            <a:pPr marL="0" indent="0">
              <a:buNone/>
            </a:pPr>
            <a:r>
              <a:rPr lang="en-US" sz="1100" b="1" kern="0" spc="150" dirty="0">
                <a:solidFill>
                  <a:srgbClr val="E8A33D"/>
                </a:solidFill>
                <a:latin typeface="Calibri" pitchFamily="34" charset="0"/>
                <a:ea typeface="Calibri" pitchFamily="34" charset="-122"/>
                <a:cs typeface="Calibri" pitchFamily="34" charset="-120"/>
              </a:rPr>
              <a:t>OUTCOME</a:t>
            </a:r>
            <a:endParaRPr lang="en-US" sz="1100" dirty="0"/>
          </a:p>
        </p:txBody>
      </p:sp>
      <p:sp>
        <p:nvSpPr>
          <p:cNvPr id="23" name="Text 21"/>
          <p:cNvSpPr txBox="1"/>
          <p:nvPr/>
        </p:nvSpPr>
        <p:spPr>
          <a:xfrm>
            <a:off x="2834640" y="5212080"/>
            <a:ext cx="8778240" cy="777240"/>
          </a:xfrm>
          <a:prstGeom prst="rect">
            <a:avLst/>
          </a:prstGeom>
          <a:noFill/>
          <a:ln/>
        </p:spPr>
        <p:txBody>
          <a:bodyPr wrap="square" lIns="0" tIns="0" rIns="0" bIns="0" rtlCol="0" anchor="ctr"/>
          <a:lstStyle/>
          <a:p>
            <a:pPr marL="0" indent="0">
              <a:lnSpc>
                <a:spcPct val="115000"/>
              </a:lnSpc>
              <a:buNone/>
            </a:pPr>
            <a:r>
              <a:rPr lang="en-US" sz="1300" dirty="0">
                <a:solidFill>
                  <a:srgbClr val="FFFFFF"/>
                </a:solidFill>
                <a:latin typeface="Calibri" pitchFamily="34" charset="0"/>
                <a:ea typeface="Calibri" pitchFamily="34" charset="-122"/>
                <a:cs typeface="Calibri" pitchFamily="34" charset="-120"/>
              </a:rPr>
              <a:t>Rules read as intent (“Web ASG may reach App ASG on 443”) instead of address lists, and stay valid as infrastructure scales.</a:t>
            </a:r>
            <a:endParaRPr lang="en-US" sz="1300" dirty="0"/>
          </a:p>
        </p:txBody>
      </p:sp>
      <p:sp>
        <p:nvSpPr>
          <p:cNvPr id="24" name="Text 22"/>
          <p:cNvSpPr txBox="1"/>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3</a:t>
            </a:r>
            <a:endParaRPr lang="en-US" sz="1000" dirty="0"/>
          </a:p>
        </p:txBody>
      </p:sp>
      <p:sp>
        <p:nvSpPr>
          <p:cNvPr id="25" name="TextBox 24">
            <a:extLst>
              <a:ext uri="{FF2B5EF4-FFF2-40B4-BE49-F238E27FC236}">
                <a16:creationId xmlns:a16="http://schemas.microsoft.com/office/drawing/2014/main" id="{191A4528-6AC2-33B5-16A2-3460F805B93E}"/>
              </a:ext>
            </a:extLst>
          </p:cNvPr>
          <p:cNvSpPr txBox="1"/>
          <p:nvPr/>
        </p:nvSpPr>
        <p:spPr>
          <a:xfrm>
            <a:off x="530353" y="1389889"/>
            <a:ext cx="6357464" cy="2554545"/>
          </a:xfrm>
          <a:prstGeom prst="rect">
            <a:avLst/>
          </a:prstGeom>
          <a:noFill/>
        </p:spPr>
        <p:txBody>
          <a:bodyPr wrap="square" rtlCol="0">
            <a:spAutoFit/>
          </a:bodyPr>
          <a:lstStyle/>
          <a:p>
            <a:r>
              <a:rPr lang="en-US" sz="1600" dirty="0">
                <a:solidFill>
                  <a:srgbClr val="1B2733"/>
                </a:solidFill>
                <a:latin typeface="Calibri" pitchFamily="34" charset="0"/>
                <a:ea typeface="Calibri" pitchFamily="34" charset="-122"/>
                <a:cs typeface="Calibri" pitchFamily="34" charset="-120"/>
              </a:rPr>
              <a:t>Today, NSG rules reference raw IP addresses and ranges. Every new VM, </a:t>
            </a:r>
          </a:p>
          <a:p>
            <a:r>
              <a:rPr lang="en-US" sz="1600" dirty="0">
                <a:solidFill>
                  <a:srgbClr val="1B2733"/>
                </a:solidFill>
                <a:latin typeface="Calibri" pitchFamily="34" charset="0"/>
                <a:ea typeface="Calibri" pitchFamily="34" charset="-122"/>
                <a:cs typeface="Calibri" pitchFamily="34" charset="-120"/>
              </a:rPr>
              <a:t>address change, or scale event forces a manual rule edit — with no link</a:t>
            </a:r>
          </a:p>
          <a:p>
            <a:r>
              <a:rPr lang="en-US" sz="1600" dirty="0">
                <a:solidFill>
                  <a:srgbClr val="1B2733"/>
                </a:solidFill>
                <a:latin typeface="Calibri" pitchFamily="34" charset="0"/>
                <a:ea typeface="Calibri" pitchFamily="34" charset="-122"/>
                <a:cs typeface="Calibri" pitchFamily="34" charset="-120"/>
              </a:rPr>
              <a:t>between a rule and the workload it protects.</a:t>
            </a:r>
          </a:p>
          <a:p>
            <a:endParaRPr lang="en-US" sz="1600" dirty="0">
              <a:solidFill>
                <a:srgbClr val="1B2733"/>
              </a:solidFill>
              <a:latin typeface="Calibri" pitchFamily="34" charset="0"/>
              <a:cs typeface="Calibri" pitchFamily="34" charset="-120"/>
            </a:endParaRPr>
          </a:p>
          <a:p>
            <a:endParaRPr lang="en-US" sz="1600" dirty="0">
              <a:solidFill>
                <a:srgbClr val="1B2733"/>
              </a:solidFill>
              <a:latin typeface="Calibri" pitchFamily="34" charset="0"/>
              <a:cs typeface="Calibri" pitchFamily="34" charset="-120"/>
            </a:endParaRPr>
          </a:p>
          <a:p>
            <a:r>
              <a:rPr lang="en-US" sz="1600" dirty="0">
                <a:solidFill>
                  <a:srgbClr val="1B2733"/>
                </a:solidFill>
                <a:latin typeface="Calibri" pitchFamily="34" charset="0"/>
                <a:ea typeface="Calibri" pitchFamily="34" charset="-122"/>
                <a:cs typeface="Calibri" pitchFamily="34" charset="-120"/>
              </a:rPr>
              <a:t>Application Security Groups let rules target a logical group (e.g. "Web-Tier") instead of an address. Membership updates automatically as VMs are added or removed — the rule itself never changes.</a:t>
            </a:r>
            <a:endParaRPr lang="en-US" sz="1600" dirty="0"/>
          </a:p>
          <a:p>
            <a:endParaRPr lang="en-US" sz="1600" dirty="0"/>
          </a:p>
          <a:p>
            <a:endParaRPr lang="en-US" sz="1600" dirty="0"/>
          </a:p>
        </p:txBody>
      </p:sp>
      <p:sp>
        <p:nvSpPr>
          <p:cNvPr id="28" name="Shape 6">
            <a:extLst>
              <a:ext uri="{FF2B5EF4-FFF2-40B4-BE49-F238E27FC236}">
                <a16:creationId xmlns:a16="http://schemas.microsoft.com/office/drawing/2014/main" id="{13B36FAD-C3DE-39A8-1269-11ABF2AD71C0}"/>
              </a:ext>
            </a:extLst>
          </p:cNvPr>
          <p:cNvSpPr/>
          <p:nvPr/>
        </p:nvSpPr>
        <p:spPr>
          <a:xfrm>
            <a:off x="6903720" y="1170432"/>
            <a:ext cx="4754880" cy="1582707"/>
          </a:xfrm>
          <a:prstGeom prst="roundRect">
            <a:avLst>
              <a:gd name="adj" fmla="val 4324"/>
            </a:avLst>
          </a:prstGeom>
          <a:solidFill>
            <a:srgbClr val="FBEAEA"/>
          </a:solidFill>
          <a:ln/>
        </p:spPr>
        <p:txBody>
          <a:bodyPr/>
          <a:lstStyle/>
          <a:p>
            <a:r>
              <a:rPr lang="en-US" dirty="0"/>
              <a:t>Before:</a:t>
            </a:r>
          </a:p>
          <a:p>
            <a:pPr>
              <a:lnSpc>
                <a:spcPct val="130000"/>
              </a:lnSpc>
            </a:pPr>
            <a:r>
              <a:rPr lang="en-US" sz="1400" dirty="0">
                <a:solidFill>
                  <a:srgbClr val="1B2733"/>
                </a:solidFill>
                <a:latin typeface="Courier New" pitchFamily="34" charset="0"/>
                <a:ea typeface="Courier New" pitchFamily="34" charset="-122"/>
                <a:cs typeface="Courier New" pitchFamily="34" charset="-120"/>
              </a:rPr>
              <a:t>Allow 10.0.1.4, 10.0.1.5, 10.0.1.9 → port 443</a:t>
            </a:r>
            <a:endParaRPr lang="en-US" sz="1400" dirty="0"/>
          </a:p>
          <a:p>
            <a:pPr>
              <a:lnSpc>
                <a:spcPct val="130000"/>
              </a:lnSpc>
            </a:pPr>
            <a:r>
              <a:rPr lang="en-US" sz="1400" dirty="0">
                <a:solidFill>
                  <a:srgbClr val="1B2733"/>
                </a:solidFill>
                <a:latin typeface="Courier New" pitchFamily="34" charset="0"/>
                <a:ea typeface="Courier New" pitchFamily="34" charset="-122"/>
                <a:cs typeface="Courier New" pitchFamily="34" charset="-120"/>
              </a:rPr>
              <a:t>(re-edited every time a VM is added)</a:t>
            </a:r>
            <a:endParaRPr lang="en-US" sz="1400" dirty="0"/>
          </a:p>
          <a:p>
            <a:endParaRPr lang="en-US" dirty="0"/>
          </a:p>
        </p:txBody>
      </p:sp>
      <p:sp>
        <p:nvSpPr>
          <p:cNvPr id="33" name="Shape 9">
            <a:extLst>
              <a:ext uri="{FF2B5EF4-FFF2-40B4-BE49-F238E27FC236}">
                <a16:creationId xmlns:a16="http://schemas.microsoft.com/office/drawing/2014/main" id="{23D5F68E-051F-B742-3838-D8ED4E8161B5}"/>
              </a:ext>
            </a:extLst>
          </p:cNvPr>
          <p:cNvSpPr/>
          <p:nvPr/>
        </p:nvSpPr>
        <p:spPr>
          <a:xfrm>
            <a:off x="6903720" y="2961861"/>
            <a:ext cx="4754880" cy="1143001"/>
          </a:xfrm>
          <a:prstGeom prst="roundRect">
            <a:avLst>
              <a:gd name="adj" fmla="val 4324"/>
            </a:avLst>
          </a:prstGeom>
          <a:solidFill>
            <a:srgbClr val="E8F3EC"/>
          </a:solidFill>
          <a:ln/>
        </p:spPr>
        <p:txBody>
          <a:bodyPr/>
          <a:lstStyle/>
          <a:p>
            <a:r>
              <a:rPr lang="en-US" dirty="0"/>
              <a:t>After:</a:t>
            </a:r>
          </a:p>
          <a:p>
            <a:pPr>
              <a:lnSpc>
                <a:spcPct val="130000"/>
              </a:lnSpc>
            </a:pPr>
            <a:r>
              <a:rPr lang="en-US" sz="1400" dirty="0">
                <a:solidFill>
                  <a:srgbClr val="1B2733"/>
                </a:solidFill>
                <a:latin typeface="Courier New" pitchFamily="34" charset="0"/>
                <a:ea typeface="Courier New" pitchFamily="34" charset="-122"/>
                <a:cs typeface="Courier New" pitchFamily="34" charset="-120"/>
              </a:rPr>
              <a:t>Allow ASG-Web-Tier → port 443</a:t>
            </a:r>
            <a:endParaRPr lang="en-US" sz="1400" dirty="0"/>
          </a:p>
          <a:p>
            <a:pPr>
              <a:lnSpc>
                <a:spcPct val="130000"/>
              </a:lnSpc>
            </a:pPr>
            <a:r>
              <a:rPr lang="en-US" sz="1400" dirty="0">
                <a:solidFill>
                  <a:srgbClr val="1B2733"/>
                </a:solidFill>
                <a:latin typeface="Courier New" pitchFamily="34" charset="0"/>
                <a:ea typeface="Courier New" pitchFamily="34" charset="-122"/>
                <a:cs typeface="Courier New" pitchFamily="34" charset="-120"/>
              </a:rPr>
              <a:t>(VMs join/leave the ASG; rule stays fixed)</a:t>
            </a:r>
            <a:endParaRPr lang="en-US" sz="1400"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USE CASE 1</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Overcoming the Bottleneck</a:t>
            </a:r>
            <a:endParaRPr lang="en-US" sz="2800" dirty="0"/>
          </a:p>
        </p:txBody>
      </p:sp>
      <p:sp>
        <p:nvSpPr>
          <p:cNvPr id="4" name="Shape 2"/>
          <p:cNvSpPr/>
          <p:nvPr/>
        </p:nvSpPr>
        <p:spPr>
          <a:xfrm>
            <a:off x="548640" y="1645920"/>
            <a:ext cx="11247120" cy="1051560"/>
          </a:xfrm>
          <a:prstGeom prst="roundRect">
            <a:avLst>
              <a:gd name="adj" fmla="val 6957"/>
            </a:avLst>
          </a:prstGeom>
          <a:solidFill>
            <a:srgbClr val="FCF1DE"/>
          </a:solidFill>
          <a:ln/>
        </p:spPr>
      </p:sp>
      <p:sp>
        <p:nvSpPr>
          <p:cNvPr id="5" name="Shape 3"/>
          <p:cNvSpPr/>
          <p:nvPr/>
        </p:nvSpPr>
        <p:spPr>
          <a:xfrm>
            <a:off x="548640" y="1645920"/>
            <a:ext cx="109728" cy="1051560"/>
          </a:xfrm>
          <a:prstGeom prst="roundRect">
            <a:avLst/>
          </a:prstGeom>
          <a:solidFill>
            <a:srgbClr val="E8A33D"/>
          </a:solidFill>
          <a:ln/>
        </p:spPr>
      </p:sp>
      <p:sp>
        <p:nvSpPr>
          <p:cNvPr id="6" name="Text 4"/>
          <p:cNvSpPr txBox="1"/>
          <p:nvPr/>
        </p:nvSpPr>
        <p:spPr>
          <a:xfrm>
            <a:off x="868680" y="1764792"/>
            <a:ext cx="2743200" cy="274320"/>
          </a:xfrm>
          <a:prstGeom prst="rect">
            <a:avLst/>
          </a:prstGeom>
          <a:noFill/>
          <a:ln/>
        </p:spPr>
        <p:txBody>
          <a:bodyPr wrap="square" lIns="0" tIns="0" rIns="0" bIns="0" rtlCol="0" anchor="ctr"/>
          <a:lstStyle/>
          <a:p>
            <a:pPr marL="0" indent="0">
              <a:buNone/>
            </a:pPr>
            <a:r>
              <a:rPr lang="en-US" sz="1100" b="1" kern="0" spc="150" dirty="0">
                <a:solidFill>
                  <a:srgbClr val="8A5A00"/>
                </a:solidFill>
                <a:latin typeface="Calibri" pitchFamily="34" charset="0"/>
                <a:ea typeface="Calibri" pitchFamily="34" charset="-122"/>
                <a:cs typeface="Calibri" pitchFamily="34" charset="-120"/>
              </a:rPr>
              <a:t>BOTTLENECK</a:t>
            </a:r>
            <a:endParaRPr lang="en-US" sz="1100" dirty="0"/>
          </a:p>
        </p:txBody>
      </p:sp>
      <p:sp>
        <p:nvSpPr>
          <p:cNvPr id="7" name="Text 5"/>
          <p:cNvSpPr txBox="1"/>
          <p:nvPr/>
        </p:nvSpPr>
        <p:spPr>
          <a:xfrm>
            <a:off x="868680" y="2011680"/>
            <a:ext cx="3931920" cy="594360"/>
          </a:xfrm>
          <a:prstGeom prst="rect">
            <a:avLst/>
          </a:prstGeom>
          <a:noFill/>
          <a:ln/>
        </p:spPr>
        <p:txBody>
          <a:bodyPr wrap="square" lIns="0" tIns="0" rIns="0" bIns="0" rtlCol="0" anchor="ctr"/>
          <a:lstStyle/>
          <a:p>
            <a:pPr marL="0" indent="0">
              <a:lnSpc>
                <a:spcPct val="105000"/>
              </a:lnSpc>
              <a:buNone/>
            </a:pPr>
            <a:r>
              <a:rPr lang="en-US" sz="1600" b="1" dirty="0">
                <a:solidFill>
                  <a:srgbClr val="8A5A00"/>
                </a:solidFill>
                <a:latin typeface="Cambria" pitchFamily="34" charset="0"/>
                <a:ea typeface="Cambria" pitchFamily="34" charset="-122"/>
                <a:cs typeface="Cambria" pitchFamily="34" charset="-120"/>
              </a:rPr>
              <a:t>Rule priority conflicts cause unexpected blocking</a:t>
            </a:r>
            <a:endParaRPr lang="en-US" sz="1600" dirty="0"/>
          </a:p>
        </p:txBody>
      </p:sp>
      <p:sp>
        <p:nvSpPr>
          <p:cNvPr id="8" name="Text 6"/>
          <p:cNvSpPr txBox="1"/>
          <p:nvPr/>
        </p:nvSpPr>
        <p:spPr>
          <a:xfrm>
            <a:off x="4892040" y="1783080"/>
            <a:ext cx="6720840" cy="868680"/>
          </a:xfrm>
          <a:prstGeom prst="rect">
            <a:avLst/>
          </a:prstGeom>
          <a:noFill/>
          <a:ln/>
        </p:spPr>
        <p:txBody>
          <a:bodyPr wrap="square" lIns="0" tIns="0" rIns="0" bIns="0" rtlCol="0" anchor="ctr"/>
          <a:lstStyle/>
          <a:p>
            <a:pPr marL="0" indent="0">
              <a:lnSpc>
                <a:spcPct val="120000"/>
              </a:lnSpc>
              <a:buNone/>
            </a:pPr>
            <a:r>
              <a:rPr lang="en-US" sz="1300" dirty="0">
                <a:solidFill>
                  <a:srgbClr val="22293B"/>
                </a:solidFill>
                <a:latin typeface="Calibri" pitchFamily="34" charset="0"/>
                <a:ea typeface="Calibri" pitchFamily="34" charset="-122"/>
                <a:cs typeface="Calibri" pitchFamily="34" charset="-120"/>
              </a:rPr>
              <a:t>While IP-based and ASG-based rules coexist during migration, overlapping rules at different priorities create ambiguous evaluation order — traffic can be blocked or allowed unintentionally.</a:t>
            </a:r>
            <a:endParaRPr lang="en-US" sz="1300" dirty="0"/>
          </a:p>
        </p:txBody>
      </p:sp>
      <p:sp>
        <p:nvSpPr>
          <p:cNvPr id="9" name="Text 7"/>
          <p:cNvSpPr txBox="1"/>
          <p:nvPr/>
        </p:nvSpPr>
        <p:spPr>
          <a:xfrm>
            <a:off x="548640" y="2971800"/>
            <a:ext cx="5486400" cy="320040"/>
          </a:xfrm>
          <a:prstGeom prst="rect">
            <a:avLst/>
          </a:prstGeom>
          <a:noFill/>
          <a:ln/>
        </p:spPr>
        <p:txBody>
          <a:bodyPr wrap="square" lIns="0" tIns="0" rIns="0" bIns="0" rtlCol="0" anchor="ctr"/>
          <a:lstStyle/>
          <a:p>
            <a:pPr marL="0" indent="0">
              <a:buNone/>
            </a:pPr>
            <a:r>
              <a:rPr lang="en-US" sz="1200" b="1" kern="0" spc="150" dirty="0">
                <a:solidFill>
                  <a:srgbClr val="1E2761"/>
                </a:solidFill>
                <a:latin typeface="Calibri" pitchFamily="34" charset="0"/>
                <a:ea typeface="Calibri" pitchFamily="34" charset="-122"/>
                <a:cs typeface="Calibri" pitchFamily="34" charset="-120"/>
              </a:rPr>
              <a:t>APPROACH TO OVERCOME IT</a:t>
            </a:r>
            <a:endParaRPr lang="en-US" sz="1200" dirty="0"/>
          </a:p>
        </p:txBody>
      </p:sp>
      <p:sp>
        <p:nvSpPr>
          <p:cNvPr id="10" name="Shape 8"/>
          <p:cNvSpPr/>
          <p:nvPr/>
        </p:nvSpPr>
        <p:spPr>
          <a:xfrm>
            <a:off x="548640" y="3383280"/>
            <a:ext cx="457200" cy="457200"/>
          </a:xfrm>
          <a:prstGeom prst="ellipse">
            <a:avLst/>
          </a:prstGeom>
          <a:solidFill>
            <a:srgbClr val="1E2761"/>
          </a:solidFill>
          <a:ln/>
        </p:spPr>
      </p:sp>
      <p:sp>
        <p:nvSpPr>
          <p:cNvPr id="11" name="Text 9"/>
          <p:cNvSpPr txBox="1"/>
          <p:nvPr/>
        </p:nvSpPr>
        <p:spPr>
          <a:xfrm>
            <a:off x="548640" y="33832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2" name="Text 10"/>
          <p:cNvSpPr txBox="1"/>
          <p:nvPr/>
        </p:nvSpPr>
        <p:spPr>
          <a:xfrm>
            <a:off x="1188720" y="3364992"/>
            <a:ext cx="10424160" cy="548640"/>
          </a:xfrm>
          <a:prstGeom prst="rect">
            <a:avLst/>
          </a:prstGeom>
          <a:noFill/>
          <a:ln/>
        </p:spPr>
        <p:txBody>
          <a:bodyPr wrap="square" lIns="0" tIns="0" rIns="0" bIns="0" rtlCol="0" anchor="ctr"/>
          <a:lstStyle/>
          <a:p>
            <a:pPr marL="0" indent="0">
              <a:lnSpc>
                <a:spcPct val="110000"/>
              </a:lnSpc>
              <a:buNone/>
            </a:pPr>
            <a:r>
              <a:rPr lang="en-US" sz="1350" dirty="0">
                <a:solidFill>
                  <a:srgbClr val="22293B"/>
                </a:solidFill>
                <a:latin typeface="Calibri" pitchFamily="34" charset="0"/>
                <a:ea typeface="Calibri" pitchFamily="34" charset="-122"/>
                <a:cs typeface="Calibri" pitchFamily="34" charset="-120"/>
              </a:rPr>
              <a:t>Audit and document current rule priorities before touching anything</a:t>
            </a:r>
            <a:endParaRPr lang="en-US" sz="1350" dirty="0"/>
          </a:p>
        </p:txBody>
      </p:sp>
      <p:sp>
        <p:nvSpPr>
          <p:cNvPr id="13" name="Shape 11"/>
          <p:cNvSpPr/>
          <p:nvPr/>
        </p:nvSpPr>
        <p:spPr>
          <a:xfrm>
            <a:off x="548640" y="4041648"/>
            <a:ext cx="457200" cy="457200"/>
          </a:xfrm>
          <a:prstGeom prst="ellipse">
            <a:avLst/>
          </a:prstGeom>
          <a:solidFill>
            <a:srgbClr val="1E2761"/>
          </a:solidFill>
          <a:ln/>
        </p:spPr>
      </p:sp>
      <p:sp>
        <p:nvSpPr>
          <p:cNvPr id="14" name="Text 12"/>
          <p:cNvSpPr txBox="1"/>
          <p:nvPr/>
        </p:nvSpPr>
        <p:spPr>
          <a:xfrm>
            <a:off x="548640" y="404164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5" name="Text 13"/>
          <p:cNvSpPr txBox="1"/>
          <p:nvPr/>
        </p:nvSpPr>
        <p:spPr>
          <a:xfrm>
            <a:off x="1188720" y="4023360"/>
            <a:ext cx="10424160" cy="548640"/>
          </a:xfrm>
          <a:prstGeom prst="rect">
            <a:avLst/>
          </a:prstGeom>
          <a:noFill/>
          <a:ln/>
        </p:spPr>
        <p:txBody>
          <a:bodyPr wrap="square" lIns="0" tIns="0" rIns="0" bIns="0" rtlCol="0" anchor="ctr"/>
          <a:lstStyle/>
          <a:p>
            <a:pPr marL="0" indent="0">
              <a:lnSpc>
                <a:spcPct val="110000"/>
              </a:lnSpc>
              <a:buNone/>
            </a:pPr>
            <a:r>
              <a:rPr lang="en-US" sz="1350" dirty="0">
                <a:solidFill>
                  <a:srgbClr val="22293B"/>
                </a:solidFill>
                <a:latin typeface="Calibri" pitchFamily="34" charset="0"/>
                <a:ea typeface="Calibri" pitchFamily="34" charset="-122"/>
                <a:cs typeface="Calibri" pitchFamily="34" charset="-120"/>
              </a:rPr>
              <a:t>Use Network Watcher's Effective Security Rules to see the resultant, combined behaviour</a:t>
            </a:r>
            <a:endParaRPr lang="en-US" sz="1350" dirty="0"/>
          </a:p>
        </p:txBody>
      </p:sp>
      <p:sp>
        <p:nvSpPr>
          <p:cNvPr id="16" name="Shape 14"/>
          <p:cNvSpPr/>
          <p:nvPr/>
        </p:nvSpPr>
        <p:spPr>
          <a:xfrm>
            <a:off x="548640" y="4700016"/>
            <a:ext cx="457200" cy="457200"/>
          </a:xfrm>
          <a:prstGeom prst="ellipse">
            <a:avLst/>
          </a:prstGeom>
          <a:solidFill>
            <a:srgbClr val="1E2761"/>
          </a:solidFill>
          <a:ln/>
        </p:spPr>
      </p:sp>
      <p:sp>
        <p:nvSpPr>
          <p:cNvPr id="17" name="Text 15"/>
          <p:cNvSpPr txBox="1"/>
          <p:nvPr/>
        </p:nvSpPr>
        <p:spPr>
          <a:xfrm>
            <a:off x="548640" y="470001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188720" y="4681728"/>
            <a:ext cx="10424160" cy="548640"/>
          </a:xfrm>
          <a:prstGeom prst="rect">
            <a:avLst/>
          </a:prstGeom>
          <a:noFill/>
          <a:ln/>
        </p:spPr>
        <p:txBody>
          <a:bodyPr wrap="square" lIns="0" tIns="0" rIns="0" bIns="0" rtlCol="0" anchor="ctr"/>
          <a:lstStyle/>
          <a:p>
            <a:pPr marL="0" indent="0">
              <a:lnSpc>
                <a:spcPct val="110000"/>
              </a:lnSpc>
              <a:buNone/>
            </a:pPr>
            <a:r>
              <a:rPr lang="en-US" sz="1350" dirty="0">
                <a:solidFill>
                  <a:srgbClr val="22293B"/>
                </a:solidFill>
                <a:latin typeface="Calibri" pitchFamily="34" charset="0"/>
                <a:ea typeface="Calibri" pitchFamily="34" charset="-122"/>
                <a:cs typeface="Calibri" pitchFamily="34" charset="-120"/>
              </a:rPr>
              <a:t>Migrate incrementally: add ASG rules first, validate, then retire the IP-based rules</a:t>
            </a:r>
            <a:endParaRPr lang="en-US" sz="1350" dirty="0"/>
          </a:p>
        </p:txBody>
      </p:sp>
      <p:sp>
        <p:nvSpPr>
          <p:cNvPr id="19" name="Shape 17"/>
          <p:cNvSpPr/>
          <p:nvPr/>
        </p:nvSpPr>
        <p:spPr>
          <a:xfrm>
            <a:off x="548640" y="5358384"/>
            <a:ext cx="457200" cy="457200"/>
          </a:xfrm>
          <a:prstGeom prst="ellipse">
            <a:avLst/>
          </a:prstGeom>
          <a:solidFill>
            <a:srgbClr val="1E2761"/>
          </a:solidFill>
          <a:ln/>
        </p:spPr>
      </p:sp>
      <p:sp>
        <p:nvSpPr>
          <p:cNvPr id="20" name="Text 18"/>
          <p:cNvSpPr txBox="1"/>
          <p:nvPr/>
        </p:nvSpPr>
        <p:spPr>
          <a:xfrm>
            <a:off x="548640" y="535838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1" name="Text 19"/>
          <p:cNvSpPr txBox="1"/>
          <p:nvPr/>
        </p:nvSpPr>
        <p:spPr>
          <a:xfrm>
            <a:off x="1188720" y="5340096"/>
            <a:ext cx="10424160" cy="548640"/>
          </a:xfrm>
          <a:prstGeom prst="rect">
            <a:avLst/>
          </a:prstGeom>
          <a:noFill/>
          <a:ln/>
        </p:spPr>
        <p:txBody>
          <a:bodyPr wrap="square" lIns="0" tIns="0" rIns="0" bIns="0" rtlCol="0" anchor="ctr"/>
          <a:lstStyle/>
          <a:p>
            <a:pPr marL="0" indent="0">
              <a:lnSpc>
                <a:spcPct val="110000"/>
              </a:lnSpc>
              <a:buNone/>
            </a:pPr>
            <a:r>
              <a:rPr lang="en-US" sz="1350" dirty="0">
                <a:solidFill>
                  <a:srgbClr val="22293B"/>
                </a:solidFill>
                <a:latin typeface="Calibri" pitchFamily="34" charset="0"/>
                <a:ea typeface="Calibri" pitchFamily="34" charset="-122"/>
                <a:cs typeface="Calibri" pitchFamily="34" charset="-120"/>
              </a:rPr>
              <a:t>Adopt a priority-gap convention (e.g. steps of 100) so new rules never force renumbering</a:t>
            </a:r>
            <a:endParaRPr lang="en-US" sz="1350" dirty="0"/>
          </a:p>
        </p:txBody>
      </p:sp>
      <p:sp>
        <p:nvSpPr>
          <p:cNvPr id="22" name="Shape 20"/>
          <p:cNvSpPr/>
          <p:nvPr/>
        </p:nvSpPr>
        <p:spPr>
          <a:xfrm>
            <a:off x="548640" y="6016752"/>
            <a:ext cx="457200" cy="457200"/>
          </a:xfrm>
          <a:prstGeom prst="ellipse">
            <a:avLst/>
          </a:prstGeom>
          <a:solidFill>
            <a:srgbClr val="1E2761"/>
          </a:solidFill>
          <a:ln/>
        </p:spPr>
      </p:sp>
      <p:sp>
        <p:nvSpPr>
          <p:cNvPr id="23" name="Text 21"/>
          <p:cNvSpPr txBox="1"/>
          <p:nvPr/>
        </p:nvSpPr>
        <p:spPr>
          <a:xfrm>
            <a:off x="548640" y="60167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4" name="Text 22"/>
          <p:cNvSpPr txBox="1"/>
          <p:nvPr/>
        </p:nvSpPr>
        <p:spPr>
          <a:xfrm>
            <a:off x="1188720" y="5998464"/>
            <a:ext cx="10424160" cy="548640"/>
          </a:xfrm>
          <a:prstGeom prst="rect">
            <a:avLst/>
          </a:prstGeom>
          <a:noFill/>
          <a:ln/>
        </p:spPr>
        <p:txBody>
          <a:bodyPr wrap="square" lIns="0" tIns="0" rIns="0" bIns="0" rtlCol="0" anchor="ctr"/>
          <a:lstStyle/>
          <a:p>
            <a:pPr marL="0" indent="0">
              <a:lnSpc>
                <a:spcPct val="110000"/>
              </a:lnSpc>
              <a:buNone/>
            </a:pPr>
            <a:r>
              <a:rPr lang="en-US" sz="1350" dirty="0">
                <a:solidFill>
                  <a:srgbClr val="22293B"/>
                </a:solidFill>
                <a:latin typeface="Calibri" pitchFamily="34" charset="0"/>
                <a:ea typeface="Calibri" pitchFamily="34" charset="-122"/>
                <a:cs typeface="Calibri" pitchFamily="34" charset="-120"/>
              </a:rPr>
              <a:t>Validate in a staging environment with simulated traffic before touching production</a:t>
            </a:r>
            <a:endParaRPr lang="en-US" sz="1350" dirty="0"/>
          </a:p>
        </p:txBody>
      </p:sp>
      <p:sp>
        <p:nvSpPr>
          <p:cNvPr id="25" name="Text 23"/>
          <p:cNvSpPr txBox="1"/>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USE CASE 2</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Reduce Rule Count by Half</a:t>
            </a:r>
            <a:endParaRPr lang="en-US" sz="2800" dirty="0"/>
          </a:p>
        </p:txBody>
      </p:sp>
      <p:sp>
        <p:nvSpPr>
          <p:cNvPr id="21" name="Shape 19"/>
          <p:cNvSpPr/>
          <p:nvPr/>
        </p:nvSpPr>
        <p:spPr>
          <a:xfrm>
            <a:off x="548640" y="5212080"/>
            <a:ext cx="11247120" cy="777240"/>
          </a:xfrm>
          <a:prstGeom prst="roundRect">
            <a:avLst>
              <a:gd name="adj" fmla="val 9412"/>
            </a:avLst>
          </a:prstGeom>
          <a:solidFill>
            <a:srgbClr val="1E2761"/>
          </a:solidFill>
          <a:ln/>
        </p:spPr>
      </p:sp>
      <p:sp>
        <p:nvSpPr>
          <p:cNvPr id="22" name="Text 20"/>
          <p:cNvSpPr txBox="1"/>
          <p:nvPr/>
        </p:nvSpPr>
        <p:spPr>
          <a:xfrm>
            <a:off x="868680" y="5212080"/>
            <a:ext cx="2011680" cy="777240"/>
          </a:xfrm>
          <a:prstGeom prst="rect">
            <a:avLst/>
          </a:prstGeom>
          <a:noFill/>
          <a:ln/>
        </p:spPr>
        <p:txBody>
          <a:bodyPr wrap="square" lIns="0" tIns="0" rIns="0" bIns="0" rtlCol="0" anchor="ctr"/>
          <a:lstStyle/>
          <a:p>
            <a:pPr marL="0" indent="0">
              <a:buNone/>
            </a:pPr>
            <a:r>
              <a:rPr lang="en-US" sz="1100" b="1" kern="0" spc="150" dirty="0">
                <a:solidFill>
                  <a:srgbClr val="E8A33D"/>
                </a:solidFill>
                <a:latin typeface="Calibri" pitchFamily="34" charset="0"/>
                <a:ea typeface="Calibri" pitchFamily="34" charset="-122"/>
                <a:cs typeface="Calibri" pitchFamily="34" charset="-120"/>
              </a:rPr>
              <a:t>TARGET</a:t>
            </a:r>
            <a:endParaRPr lang="en-US" sz="1100" dirty="0"/>
          </a:p>
        </p:txBody>
      </p:sp>
      <p:sp>
        <p:nvSpPr>
          <p:cNvPr id="23" name="Text 21"/>
          <p:cNvSpPr txBox="1"/>
          <p:nvPr/>
        </p:nvSpPr>
        <p:spPr>
          <a:xfrm>
            <a:off x="2834640" y="5212080"/>
            <a:ext cx="8778240" cy="777240"/>
          </a:xfrm>
          <a:prstGeom prst="rect">
            <a:avLst/>
          </a:prstGeom>
          <a:noFill/>
          <a:ln/>
        </p:spPr>
        <p:txBody>
          <a:bodyPr wrap="square" lIns="0" tIns="0" rIns="0" bIns="0" rtlCol="0" anchor="ctr"/>
          <a:lstStyle/>
          <a:p>
            <a:pPr marL="0" indent="0">
              <a:lnSpc>
                <a:spcPct val="115000"/>
              </a:lnSpc>
              <a:buNone/>
            </a:pPr>
            <a:r>
              <a:rPr lang="en-US" sz="1300" dirty="0">
                <a:solidFill>
                  <a:srgbClr val="FFFFFF"/>
                </a:solidFill>
                <a:latin typeface="Calibri" pitchFamily="34" charset="0"/>
                <a:ea typeface="Calibri" pitchFamily="34" charset="-122"/>
                <a:cs typeface="Calibri" pitchFamily="34" charset="-120"/>
              </a:rPr>
              <a:t>Cut the active NSG rule count by 50% while preserving the same allowed traffic paths.</a:t>
            </a:r>
            <a:endParaRPr lang="en-US" sz="1300" dirty="0"/>
          </a:p>
        </p:txBody>
      </p:sp>
      <p:sp>
        <p:nvSpPr>
          <p:cNvPr id="24" name="Text 22"/>
          <p:cNvSpPr txBox="1"/>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5</a:t>
            </a:r>
            <a:endParaRPr lang="en-US" sz="1000" dirty="0"/>
          </a:p>
        </p:txBody>
      </p:sp>
      <p:sp>
        <p:nvSpPr>
          <p:cNvPr id="25" name="TextBox 24">
            <a:extLst>
              <a:ext uri="{FF2B5EF4-FFF2-40B4-BE49-F238E27FC236}">
                <a16:creationId xmlns:a16="http://schemas.microsoft.com/office/drawing/2014/main" id="{9689E002-6936-EBE1-ACED-BDC2A1E1228C}"/>
              </a:ext>
            </a:extLst>
          </p:cNvPr>
          <p:cNvSpPr txBox="1"/>
          <p:nvPr/>
        </p:nvSpPr>
        <p:spPr>
          <a:xfrm>
            <a:off x="548640" y="1389888"/>
            <a:ext cx="9335719" cy="2862322"/>
          </a:xfrm>
          <a:prstGeom prst="rect">
            <a:avLst/>
          </a:prstGeom>
          <a:noFill/>
        </p:spPr>
        <p:txBody>
          <a:bodyPr wrap="square" rtlCol="0">
            <a:spAutoFit/>
          </a:bodyPr>
          <a:lstStyle/>
          <a:p>
            <a:endParaRPr lang="en-US" dirty="0">
              <a:solidFill>
                <a:srgbClr val="1B2733"/>
              </a:solidFill>
              <a:latin typeface="Calibri" pitchFamily="34" charset="0"/>
              <a:ea typeface="Calibri" pitchFamily="34" charset="-122"/>
              <a:cs typeface="Calibri" pitchFamily="34" charset="-120"/>
            </a:endParaRPr>
          </a:p>
          <a:p>
            <a:r>
              <a:rPr lang="en-US" dirty="0">
                <a:solidFill>
                  <a:srgbClr val="1B2733"/>
                </a:solidFill>
                <a:latin typeface="Calibri" pitchFamily="34" charset="0"/>
                <a:ea typeface="Calibri" pitchFamily="34" charset="-122"/>
                <a:cs typeface="Calibri" pitchFamily="34" charset="-120"/>
              </a:rPr>
              <a:t>Many NSGs carry duplicate or near-duplicate rules — one per IP address doing the same job. </a:t>
            </a:r>
          </a:p>
          <a:p>
            <a:r>
              <a:rPr lang="en-US" dirty="0">
                <a:solidFill>
                  <a:srgbClr val="1B2733"/>
                </a:solidFill>
                <a:latin typeface="Calibri" pitchFamily="34" charset="0"/>
                <a:ea typeface="Calibri" pitchFamily="34" charset="-122"/>
                <a:cs typeface="Calibri" pitchFamily="34" charset="-120"/>
              </a:rPr>
              <a:t>Once workloads are grouped into ASGs, those duplicates collapse into a single rule per group.</a:t>
            </a:r>
          </a:p>
          <a:p>
            <a:endParaRPr lang="en-US" dirty="0">
              <a:solidFill>
                <a:srgbClr val="1B2733"/>
              </a:solidFill>
              <a:latin typeface="Calibri" pitchFamily="34" charset="0"/>
              <a:cs typeface="Calibri" pitchFamily="34" charset="-120"/>
            </a:endParaRPr>
          </a:p>
          <a:p>
            <a:endParaRPr lang="en-US" dirty="0">
              <a:solidFill>
                <a:srgbClr val="1B2733"/>
              </a:solidFill>
              <a:latin typeface="Calibri" pitchFamily="34" charset="0"/>
              <a:cs typeface="Calibri" pitchFamily="34" charset="-120"/>
            </a:endParaRPr>
          </a:p>
          <a:p>
            <a:endParaRPr lang="en-US" dirty="0">
              <a:solidFill>
                <a:srgbClr val="1B2733"/>
              </a:solidFill>
              <a:latin typeface="Calibri" pitchFamily="34" charset="0"/>
              <a:cs typeface="Calibri" pitchFamily="34" charset="-120"/>
            </a:endParaRPr>
          </a:p>
          <a:p>
            <a:r>
              <a:rPr lang="en-US" dirty="0">
                <a:solidFill>
                  <a:srgbClr val="1B2733"/>
                </a:solidFill>
                <a:latin typeface="Calibri" pitchFamily="34" charset="0"/>
                <a:ea typeface="Calibri" pitchFamily="34" charset="-122"/>
                <a:cs typeface="Calibri" pitchFamily="34" charset="-120"/>
              </a:rPr>
              <a:t>Fewer rules means faster reviews, lower risk of stale or conflicting entries, and a rule table that maps cleanly onto the application architecture rather than historical patches.</a:t>
            </a:r>
            <a:endParaRPr lang="en-US" dirty="0"/>
          </a:p>
          <a:p>
            <a:endParaRPr lang="en-US" dirty="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USE CASE 2</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Overcoming the Bottleneck</a:t>
            </a:r>
            <a:endParaRPr lang="en-US" sz="2800" dirty="0"/>
          </a:p>
        </p:txBody>
      </p:sp>
      <p:sp>
        <p:nvSpPr>
          <p:cNvPr id="4" name="Shape 2"/>
          <p:cNvSpPr/>
          <p:nvPr/>
        </p:nvSpPr>
        <p:spPr>
          <a:xfrm>
            <a:off x="548640" y="1645920"/>
            <a:ext cx="11247120" cy="1051560"/>
          </a:xfrm>
          <a:prstGeom prst="roundRect">
            <a:avLst>
              <a:gd name="adj" fmla="val 6957"/>
            </a:avLst>
          </a:prstGeom>
          <a:solidFill>
            <a:srgbClr val="FCF1DE"/>
          </a:solidFill>
          <a:ln/>
        </p:spPr>
      </p:sp>
      <p:sp>
        <p:nvSpPr>
          <p:cNvPr id="5" name="Shape 3"/>
          <p:cNvSpPr/>
          <p:nvPr/>
        </p:nvSpPr>
        <p:spPr>
          <a:xfrm>
            <a:off x="548640" y="1645920"/>
            <a:ext cx="109728" cy="1051560"/>
          </a:xfrm>
          <a:prstGeom prst="roundRect">
            <a:avLst/>
          </a:prstGeom>
          <a:solidFill>
            <a:srgbClr val="E8A33D"/>
          </a:solidFill>
          <a:ln/>
        </p:spPr>
      </p:sp>
      <p:sp>
        <p:nvSpPr>
          <p:cNvPr id="6" name="Text 4"/>
          <p:cNvSpPr txBox="1"/>
          <p:nvPr/>
        </p:nvSpPr>
        <p:spPr>
          <a:xfrm>
            <a:off x="868680" y="1764792"/>
            <a:ext cx="2743200" cy="274320"/>
          </a:xfrm>
          <a:prstGeom prst="rect">
            <a:avLst/>
          </a:prstGeom>
          <a:noFill/>
          <a:ln/>
        </p:spPr>
        <p:txBody>
          <a:bodyPr wrap="square" lIns="0" tIns="0" rIns="0" bIns="0" rtlCol="0" anchor="ctr"/>
          <a:lstStyle/>
          <a:p>
            <a:pPr marL="0" indent="0">
              <a:buNone/>
            </a:pPr>
            <a:r>
              <a:rPr lang="en-US" sz="1100" b="1" kern="0" spc="150" dirty="0">
                <a:solidFill>
                  <a:srgbClr val="8A5A00"/>
                </a:solidFill>
                <a:latin typeface="Calibri" pitchFamily="34" charset="0"/>
                <a:ea typeface="Calibri" pitchFamily="34" charset="-122"/>
                <a:cs typeface="Calibri" pitchFamily="34" charset="-120"/>
              </a:rPr>
              <a:t>BOTTLENECK</a:t>
            </a:r>
            <a:endParaRPr lang="en-US" sz="1100" dirty="0"/>
          </a:p>
        </p:txBody>
      </p:sp>
      <p:sp>
        <p:nvSpPr>
          <p:cNvPr id="7" name="Text 5"/>
          <p:cNvSpPr txBox="1"/>
          <p:nvPr/>
        </p:nvSpPr>
        <p:spPr>
          <a:xfrm>
            <a:off x="868680" y="2011680"/>
            <a:ext cx="3931920" cy="594360"/>
          </a:xfrm>
          <a:prstGeom prst="rect">
            <a:avLst/>
          </a:prstGeom>
          <a:noFill/>
          <a:ln/>
        </p:spPr>
        <p:txBody>
          <a:bodyPr wrap="square" lIns="0" tIns="0" rIns="0" bIns="0" rtlCol="0" anchor="ctr"/>
          <a:lstStyle/>
          <a:p>
            <a:pPr marL="0" indent="0">
              <a:lnSpc>
                <a:spcPct val="105000"/>
              </a:lnSpc>
              <a:buNone/>
            </a:pPr>
            <a:r>
              <a:rPr lang="en-US" sz="1600" b="1" dirty="0">
                <a:solidFill>
                  <a:srgbClr val="8A5A00"/>
                </a:solidFill>
                <a:latin typeface="Cambria" pitchFamily="34" charset="0"/>
                <a:ea typeface="Cambria" pitchFamily="34" charset="-122"/>
                <a:cs typeface="Cambria" pitchFamily="34" charset="-120"/>
              </a:rPr>
              <a:t>Effective security rules are hard to reason about</a:t>
            </a:r>
            <a:endParaRPr lang="en-US" sz="1600" dirty="0"/>
          </a:p>
        </p:txBody>
      </p:sp>
      <p:sp>
        <p:nvSpPr>
          <p:cNvPr id="8" name="Text 6"/>
          <p:cNvSpPr txBox="1"/>
          <p:nvPr/>
        </p:nvSpPr>
        <p:spPr>
          <a:xfrm>
            <a:off x="4892040" y="1783080"/>
            <a:ext cx="6720840" cy="868680"/>
          </a:xfrm>
          <a:prstGeom prst="rect">
            <a:avLst/>
          </a:prstGeom>
          <a:noFill/>
          <a:ln/>
        </p:spPr>
        <p:txBody>
          <a:bodyPr wrap="square" lIns="0" tIns="0" rIns="0" bIns="0" rtlCol="0" anchor="ctr"/>
          <a:lstStyle/>
          <a:p>
            <a:pPr marL="0" indent="0">
              <a:lnSpc>
                <a:spcPct val="120000"/>
              </a:lnSpc>
              <a:buNone/>
            </a:pPr>
            <a:r>
              <a:rPr lang="en-US" sz="1300" dirty="0">
                <a:solidFill>
                  <a:srgbClr val="22293B"/>
                </a:solidFill>
                <a:latin typeface="Calibri" pitchFamily="34" charset="0"/>
                <a:ea typeface="Calibri" pitchFamily="34" charset="-122"/>
                <a:cs typeface="Calibri" pitchFamily="34" charset="-120"/>
              </a:rPr>
              <a:t>With NSGs applied at both subnet and NIC level, layered inheritance makes it difficult to trace which rule actually governs a given flow — a real risk when consolidating rules.</a:t>
            </a:r>
            <a:endParaRPr lang="en-US" sz="1300" dirty="0"/>
          </a:p>
        </p:txBody>
      </p:sp>
      <p:sp>
        <p:nvSpPr>
          <p:cNvPr id="9" name="Text 7"/>
          <p:cNvSpPr txBox="1"/>
          <p:nvPr/>
        </p:nvSpPr>
        <p:spPr>
          <a:xfrm>
            <a:off x="548640" y="2971800"/>
            <a:ext cx="5486400" cy="320040"/>
          </a:xfrm>
          <a:prstGeom prst="rect">
            <a:avLst/>
          </a:prstGeom>
          <a:noFill/>
          <a:ln/>
        </p:spPr>
        <p:txBody>
          <a:bodyPr wrap="square" lIns="0" tIns="0" rIns="0" bIns="0" rtlCol="0" anchor="ctr"/>
          <a:lstStyle/>
          <a:p>
            <a:pPr marL="0" indent="0">
              <a:buNone/>
            </a:pPr>
            <a:r>
              <a:rPr lang="en-US" sz="1200" b="1" kern="0" spc="150" dirty="0">
                <a:solidFill>
                  <a:srgbClr val="1E2761"/>
                </a:solidFill>
                <a:latin typeface="Calibri" pitchFamily="34" charset="0"/>
                <a:ea typeface="Calibri" pitchFamily="34" charset="-122"/>
                <a:cs typeface="Calibri" pitchFamily="34" charset="-120"/>
              </a:rPr>
              <a:t>APPROACH TO OVERCOME IT</a:t>
            </a:r>
            <a:endParaRPr lang="en-US" sz="1200" dirty="0"/>
          </a:p>
        </p:txBody>
      </p:sp>
      <p:sp>
        <p:nvSpPr>
          <p:cNvPr id="10" name="Shape 8"/>
          <p:cNvSpPr/>
          <p:nvPr/>
        </p:nvSpPr>
        <p:spPr>
          <a:xfrm>
            <a:off x="548640" y="3383280"/>
            <a:ext cx="457200" cy="457200"/>
          </a:xfrm>
          <a:prstGeom prst="ellipse">
            <a:avLst/>
          </a:prstGeom>
          <a:solidFill>
            <a:srgbClr val="1E2761"/>
          </a:solidFill>
          <a:ln/>
        </p:spPr>
      </p:sp>
      <p:sp>
        <p:nvSpPr>
          <p:cNvPr id="11" name="Text 9"/>
          <p:cNvSpPr txBox="1"/>
          <p:nvPr/>
        </p:nvSpPr>
        <p:spPr>
          <a:xfrm>
            <a:off x="548640" y="33832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2" name="Text 10"/>
          <p:cNvSpPr txBox="1"/>
          <p:nvPr/>
        </p:nvSpPr>
        <p:spPr>
          <a:xfrm>
            <a:off x="1188720" y="3364992"/>
            <a:ext cx="10424160" cy="548640"/>
          </a:xfrm>
          <a:prstGeom prst="rect">
            <a:avLst/>
          </a:prstGeom>
          <a:noFill/>
          <a:ln/>
        </p:spPr>
        <p:txBody>
          <a:bodyPr wrap="square" lIns="0" tIns="0" rIns="0" bIns="0" rtlCol="0" anchor="ctr"/>
          <a:lstStyle/>
          <a:p>
            <a:pPr marL="0" indent="0">
              <a:lnSpc>
                <a:spcPct val="110000"/>
              </a:lnSpc>
              <a:buNone/>
            </a:pPr>
            <a:r>
              <a:rPr lang="en-US" sz="1350" dirty="0">
                <a:solidFill>
                  <a:srgbClr val="22293B"/>
                </a:solidFill>
                <a:latin typeface="Calibri" pitchFamily="34" charset="0"/>
                <a:ea typeface="Calibri" pitchFamily="34" charset="-122"/>
                <a:cs typeface="Calibri" pitchFamily="34" charset="-120"/>
              </a:rPr>
              <a:t>Run Effective Security Rules and IP Flow Verify before and after each consolidation batch</a:t>
            </a:r>
            <a:endParaRPr lang="en-US" sz="1350" dirty="0"/>
          </a:p>
        </p:txBody>
      </p:sp>
      <p:sp>
        <p:nvSpPr>
          <p:cNvPr id="13" name="Shape 11"/>
          <p:cNvSpPr/>
          <p:nvPr/>
        </p:nvSpPr>
        <p:spPr>
          <a:xfrm>
            <a:off x="548640" y="4041648"/>
            <a:ext cx="457200" cy="457200"/>
          </a:xfrm>
          <a:prstGeom prst="ellipse">
            <a:avLst/>
          </a:prstGeom>
          <a:solidFill>
            <a:srgbClr val="1E2761"/>
          </a:solidFill>
          <a:ln/>
        </p:spPr>
      </p:sp>
      <p:sp>
        <p:nvSpPr>
          <p:cNvPr id="14" name="Text 12"/>
          <p:cNvSpPr txBox="1"/>
          <p:nvPr/>
        </p:nvSpPr>
        <p:spPr>
          <a:xfrm>
            <a:off x="548640" y="404164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5" name="Text 13"/>
          <p:cNvSpPr txBox="1"/>
          <p:nvPr/>
        </p:nvSpPr>
        <p:spPr>
          <a:xfrm>
            <a:off x="1188720" y="4023360"/>
            <a:ext cx="10424160" cy="548640"/>
          </a:xfrm>
          <a:prstGeom prst="rect">
            <a:avLst/>
          </a:prstGeom>
          <a:noFill/>
          <a:ln/>
        </p:spPr>
        <p:txBody>
          <a:bodyPr wrap="square" lIns="0" tIns="0" rIns="0" bIns="0" rtlCol="0" anchor="ctr"/>
          <a:lstStyle/>
          <a:p>
            <a:pPr marL="0" indent="0">
              <a:lnSpc>
                <a:spcPct val="110000"/>
              </a:lnSpc>
              <a:buNone/>
            </a:pPr>
            <a:r>
              <a:rPr lang="en-US" sz="1350" dirty="0">
                <a:solidFill>
                  <a:srgbClr val="22293B"/>
                </a:solidFill>
                <a:latin typeface="Calibri" pitchFamily="34" charset="0"/>
                <a:ea typeface="Calibri" pitchFamily="34" charset="-122"/>
                <a:cs typeface="Calibri" pitchFamily="34" charset="-120"/>
              </a:rPr>
              <a:t>Document a rule dependency map covering both subnet- and NIC-level NSGs</a:t>
            </a:r>
            <a:endParaRPr lang="en-US" sz="1350" dirty="0"/>
          </a:p>
        </p:txBody>
      </p:sp>
      <p:sp>
        <p:nvSpPr>
          <p:cNvPr id="16" name="Shape 14"/>
          <p:cNvSpPr/>
          <p:nvPr/>
        </p:nvSpPr>
        <p:spPr>
          <a:xfrm>
            <a:off x="548640" y="4700016"/>
            <a:ext cx="457200" cy="457200"/>
          </a:xfrm>
          <a:prstGeom prst="ellipse">
            <a:avLst/>
          </a:prstGeom>
          <a:solidFill>
            <a:srgbClr val="1E2761"/>
          </a:solidFill>
          <a:ln/>
        </p:spPr>
      </p:sp>
      <p:sp>
        <p:nvSpPr>
          <p:cNvPr id="17" name="Text 15"/>
          <p:cNvSpPr txBox="1"/>
          <p:nvPr/>
        </p:nvSpPr>
        <p:spPr>
          <a:xfrm>
            <a:off x="548640" y="470001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188720" y="4681728"/>
            <a:ext cx="10424160" cy="548640"/>
          </a:xfrm>
          <a:prstGeom prst="rect">
            <a:avLst/>
          </a:prstGeom>
          <a:noFill/>
          <a:ln/>
        </p:spPr>
        <p:txBody>
          <a:bodyPr wrap="square" lIns="0" tIns="0" rIns="0" bIns="0" rtlCol="0" anchor="ctr"/>
          <a:lstStyle/>
          <a:p>
            <a:pPr marL="0" indent="0">
              <a:lnSpc>
                <a:spcPct val="110000"/>
              </a:lnSpc>
              <a:buNone/>
            </a:pPr>
            <a:r>
              <a:rPr lang="en-US" sz="1350" dirty="0">
                <a:solidFill>
                  <a:srgbClr val="22293B"/>
                </a:solidFill>
                <a:latin typeface="Calibri" pitchFamily="34" charset="0"/>
                <a:ea typeface="Calibri" pitchFamily="34" charset="-122"/>
                <a:cs typeface="Calibri" pitchFamily="34" charset="-120"/>
              </a:rPr>
              <a:t>Consolidate in small batches with a clear rollback plan for each</a:t>
            </a:r>
            <a:endParaRPr lang="en-US" sz="1350" dirty="0"/>
          </a:p>
        </p:txBody>
      </p:sp>
      <p:sp>
        <p:nvSpPr>
          <p:cNvPr id="19" name="Shape 17"/>
          <p:cNvSpPr/>
          <p:nvPr/>
        </p:nvSpPr>
        <p:spPr>
          <a:xfrm>
            <a:off x="548640" y="5358384"/>
            <a:ext cx="457200" cy="457200"/>
          </a:xfrm>
          <a:prstGeom prst="ellipse">
            <a:avLst/>
          </a:prstGeom>
          <a:solidFill>
            <a:srgbClr val="1E2761"/>
          </a:solidFill>
          <a:ln/>
        </p:spPr>
      </p:sp>
      <p:sp>
        <p:nvSpPr>
          <p:cNvPr id="20" name="Text 18"/>
          <p:cNvSpPr txBox="1"/>
          <p:nvPr/>
        </p:nvSpPr>
        <p:spPr>
          <a:xfrm>
            <a:off x="548640" y="535838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1" name="Text 19"/>
          <p:cNvSpPr txBox="1"/>
          <p:nvPr/>
        </p:nvSpPr>
        <p:spPr>
          <a:xfrm>
            <a:off x="1188720" y="5340096"/>
            <a:ext cx="10424160" cy="548640"/>
          </a:xfrm>
          <a:prstGeom prst="rect">
            <a:avLst/>
          </a:prstGeom>
          <a:noFill/>
          <a:ln/>
        </p:spPr>
        <p:txBody>
          <a:bodyPr wrap="square" lIns="0" tIns="0" rIns="0" bIns="0" rtlCol="0" anchor="ctr"/>
          <a:lstStyle/>
          <a:p>
            <a:pPr marL="0" indent="0">
              <a:lnSpc>
                <a:spcPct val="110000"/>
              </a:lnSpc>
              <a:buNone/>
            </a:pPr>
            <a:r>
              <a:rPr lang="en-US" sz="1350" dirty="0">
                <a:solidFill>
                  <a:srgbClr val="22293B"/>
                </a:solidFill>
                <a:latin typeface="Calibri" pitchFamily="34" charset="0"/>
                <a:ea typeface="Calibri" pitchFamily="34" charset="-122"/>
                <a:cs typeface="Calibri" pitchFamily="34" charset="-120"/>
              </a:rPr>
              <a:t>Re-test critical traffic paths after every batch, not just at the end</a:t>
            </a:r>
            <a:endParaRPr lang="en-US" sz="1350" dirty="0"/>
          </a:p>
        </p:txBody>
      </p:sp>
      <p:sp>
        <p:nvSpPr>
          <p:cNvPr id="22" name="Shape 20"/>
          <p:cNvSpPr/>
          <p:nvPr/>
        </p:nvSpPr>
        <p:spPr>
          <a:xfrm>
            <a:off x="548640" y="6016752"/>
            <a:ext cx="457200" cy="457200"/>
          </a:xfrm>
          <a:prstGeom prst="ellipse">
            <a:avLst/>
          </a:prstGeom>
          <a:solidFill>
            <a:srgbClr val="1E2761"/>
          </a:solidFill>
          <a:ln/>
        </p:spPr>
      </p:sp>
      <p:sp>
        <p:nvSpPr>
          <p:cNvPr id="23" name="Text 21"/>
          <p:cNvSpPr txBox="1"/>
          <p:nvPr/>
        </p:nvSpPr>
        <p:spPr>
          <a:xfrm>
            <a:off x="548640" y="60167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4" name="Text 22"/>
          <p:cNvSpPr txBox="1"/>
          <p:nvPr/>
        </p:nvSpPr>
        <p:spPr>
          <a:xfrm>
            <a:off x="1188720" y="5998464"/>
            <a:ext cx="10424160" cy="548640"/>
          </a:xfrm>
          <a:prstGeom prst="rect">
            <a:avLst/>
          </a:prstGeom>
          <a:noFill/>
          <a:ln/>
        </p:spPr>
        <p:txBody>
          <a:bodyPr wrap="square" lIns="0" tIns="0" rIns="0" bIns="0" rtlCol="0" anchor="ctr"/>
          <a:lstStyle/>
          <a:p>
            <a:pPr marL="0" indent="0">
              <a:lnSpc>
                <a:spcPct val="110000"/>
              </a:lnSpc>
              <a:buNone/>
            </a:pPr>
            <a:r>
              <a:rPr lang="en-US" sz="1350" dirty="0">
                <a:solidFill>
                  <a:srgbClr val="22293B"/>
                </a:solidFill>
                <a:latin typeface="Calibri" pitchFamily="34" charset="0"/>
                <a:ea typeface="Calibri" pitchFamily="34" charset="-122"/>
                <a:cs typeface="Calibri" pitchFamily="34" charset="-120"/>
              </a:rPr>
              <a:t>Automate rule documentation so the map stays current as rules change</a:t>
            </a:r>
            <a:endParaRPr lang="en-US" sz="1350" dirty="0"/>
          </a:p>
        </p:txBody>
      </p:sp>
      <p:sp>
        <p:nvSpPr>
          <p:cNvPr id="25" name="Text 23"/>
          <p:cNvSpPr txBox="1"/>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8229600" cy="320040"/>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AZURE SERVICES USED</a:t>
            </a:r>
            <a:endParaRPr lang="en-US" sz="1200" dirty="0"/>
          </a:p>
        </p:txBody>
      </p:sp>
      <p:sp>
        <p:nvSpPr>
          <p:cNvPr id="3" name="Text 1"/>
          <p:cNvSpPr/>
          <p:nvPr/>
        </p:nvSpPr>
        <p:spPr>
          <a:xfrm>
            <a:off x="548640" y="777240"/>
            <a:ext cx="10789920" cy="685800"/>
          </a:xfrm>
          <a:prstGeom prst="rect">
            <a:avLst/>
          </a:prstGeom>
          <a:noFill/>
          <a:ln/>
        </p:spPr>
        <p:txBody>
          <a:bodyPr wrap="square" lIns="0" tIns="0" rIns="0" bIns="0" rtlCol="0" anchor="ctr"/>
          <a:lstStyle/>
          <a:p>
            <a:pPr marL="0" indent="0">
              <a:buNone/>
            </a:pPr>
            <a:r>
              <a:rPr lang="en-US" sz="2600" b="1" dirty="0">
                <a:solidFill>
                  <a:srgbClr val="1B2733"/>
                </a:solidFill>
                <a:latin typeface="Cambria" pitchFamily="34" charset="0"/>
                <a:ea typeface="Cambria" pitchFamily="34" charset="-122"/>
                <a:cs typeface="Cambria" pitchFamily="34" charset="-120"/>
              </a:rPr>
              <a:t>The building blocks behind the rationalisation</a:t>
            </a:r>
            <a:endParaRPr lang="en-US" sz="2600" dirty="0"/>
          </a:p>
        </p:txBody>
      </p:sp>
      <p:sp>
        <p:nvSpPr>
          <p:cNvPr id="4" name="Shape 2"/>
          <p:cNvSpPr/>
          <p:nvPr/>
        </p:nvSpPr>
        <p:spPr>
          <a:xfrm>
            <a:off x="548640" y="1691640"/>
            <a:ext cx="3429000" cy="1920240"/>
          </a:xfrm>
          <a:prstGeom prst="roundRect">
            <a:avLst>
              <a:gd name="adj" fmla="val 3810"/>
            </a:avLst>
          </a:prstGeom>
          <a:solidFill>
            <a:srgbClr val="F3F6FA"/>
          </a:solidFill>
          <a:ln/>
        </p:spPr>
      </p:sp>
      <p:sp>
        <p:nvSpPr>
          <p:cNvPr id="5" name="Shape 3"/>
          <p:cNvSpPr/>
          <p:nvPr/>
        </p:nvSpPr>
        <p:spPr>
          <a:xfrm>
            <a:off x="822960" y="1965960"/>
            <a:ext cx="457200" cy="457200"/>
          </a:xfrm>
          <a:prstGeom prst="ellipse">
            <a:avLst/>
          </a:prstGeom>
          <a:solidFill>
            <a:srgbClr val="0078D4"/>
          </a:solidFill>
          <a:ln/>
        </p:spPr>
      </p:sp>
      <p:sp>
        <p:nvSpPr>
          <p:cNvPr id="6" name="Text 4"/>
          <p:cNvSpPr/>
          <p:nvPr/>
        </p:nvSpPr>
        <p:spPr>
          <a:xfrm>
            <a:off x="822960" y="19659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822960" y="2560320"/>
            <a:ext cx="2880360" cy="457200"/>
          </a:xfrm>
          <a:prstGeom prst="rect">
            <a:avLst/>
          </a:prstGeom>
          <a:noFill/>
          <a:ln/>
        </p:spPr>
        <p:txBody>
          <a:bodyPr wrap="square" lIns="0" tIns="0" rIns="0" bIns="0" rtlCol="0" anchor="ctr"/>
          <a:lstStyle/>
          <a:p>
            <a:pPr marL="0" indent="0">
              <a:lnSpc>
                <a:spcPct val="105000"/>
              </a:lnSpc>
              <a:buNone/>
            </a:pPr>
            <a:r>
              <a:rPr lang="en-US" sz="1400" b="1" dirty="0">
                <a:solidFill>
                  <a:srgbClr val="1B2733"/>
                </a:solidFill>
                <a:latin typeface="Calibri" pitchFamily="34" charset="0"/>
                <a:ea typeface="Calibri" pitchFamily="34" charset="-122"/>
                <a:cs typeface="Calibri" pitchFamily="34" charset="-120"/>
              </a:rPr>
              <a:t>Virtual Network</a:t>
            </a:r>
            <a:endParaRPr lang="en-US" sz="1400" dirty="0"/>
          </a:p>
        </p:txBody>
      </p:sp>
      <p:sp>
        <p:nvSpPr>
          <p:cNvPr id="8" name="Text 6"/>
          <p:cNvSpPr/>
          <p:nvPr/>
        </p:nvSpPr>
        <p:spPr>
          <a:xfrm>
            <a:off x="822960" y="2971800"/>
            <a:ext cx="2880360" cy="594360"/>
          </a:xfrm>
          <a:prstGeom prst="rect">
            <a:avLst/>
          </a:prstGeom>
          <a:noFill/>
          <a:ln/>
        </p:spPr>
        <p:txBody>
          <a:bodyPr wrap="square" lIns="0" tIns="0" rIns="0" bIns="0" rtlCol="0" anchor="ctr"/>
          <a:lstStyle/>
          <a:p>
            <a:pPr marL="0" indent="0">
              <a:lnSpc>
                <a:spcPct val="115000"/>
              </a:lnSpc>
              <a:buNone/>
            </a:pPr>
            <a:r>
              <a:rPr lang="en-US" sz="1100" dirty="0">
                <a:solidFill>
                  <a:srgbClr val="5B6B79"/>
                </a:solidFill>
                <a:latin typeface="Calibri" pitchFamily="34" charset="0"/>
                <a:ea typeface="Calibri" pitchFamily="34" charset="-122"/>
                <a:cs typeface="Calibri" pitchFamily="34" charset="-120"/>
              </a:rPr>
              <a:t>Hosts the tiered subnets (Web / App / Data) in scope</a:t>
            </a:r>
            <a:endParaRPr lang="en-US" sz="1100" dirty="0"/>
          </a:p>
        </p:txBody>
      </p:sp>
      <p:sp>
        <p:nvSpPr>
          <p:cNvPr id="9" name="Shape 7"/>
          <p:cNvSpPr/>
          <p:nvPr/>
        </p:nvSpPr>
        <p:spPr>
          <a:xfrm>
            <a:off x="4206240" y="1691640"/>
            <a:ext cx="3429000" cy="1920240"/>
          </a:xfrm>
          <a:prstGeom prst="roundRect">
            <a:avLst>
              <a:gd name="adj" fmla="val 3810"/>
            </a:avLst>
          </a:prstGeom>
          <a:solidFill>
            <a:srgbClr val="F3F6FA"/>
          </a:solidFill>
          <a:ln/>
        </p:spPr>
      </p:sp>
      <p:sp>
        <p:nvSpPr>
          <p:cNvPr id="10" name="Shape 8"/>
          <p:cNvSpPr/>
          <p:nvPr/>
        </p:nvSpPr>
        <p:spPr>
          <a:xfrm>
            <a:off x="4480560" y="1965960"/>
            <a:ext cx="457200" cy="457200"/>
          </a:xfrm>
          <a:prstGeom prst="ellipse">
            <a:avLst/>
          </a:prstGeom>
          <a:solidFill>
            <a:srgbClr val="0A3D62"/>
          </a:solidFill>
          <a:ln/>
        </p:spPr>
      </p:sp>
      <p:sp>
        <p:nvSpPr>
          <p:cNvPr id="11" name="Text 9"/>
          <p:cNvSpPr/>
          <p:nvPr/>
        </p:nvSpPr>
        <p:spPr>
          <a:xfrm>
            <a:off x="4480560" y="19659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4480560" y="2560320"/>
            <a:ext cx="2880360" cy="457200"/>
          </a:xfrm>
          <a:prstGeom prst="rect">
            <a:avLst/>
          </a:prstGeom>
          <a:noFill/>
          <a:ln/>
        </p:spPr>
        <p:txBody>
          <a:bodyPr wrap="square" lIns="0" tIns="0" rIns="0" bIns="0" rtlCol="0" anchor="ctr"/>
          <a:lstStyle/>
          <a:p>
            <a:pPr marL="0" indent="0">
              <a:lnSpc>
                <a:spcPct val="105000"/>
              </a:lnSpc>
              <a:buNone/>
            </a:pPr>
            <a:r>
              <a:rPr lang="en-US" sz="1400" b="1" dirty="0">
                <a:solidFill>
                  <a:srgbClr val="1B2733"/>
                </a:solidFill>
                <a:latin typeface="Calibri" pitchFamily="34" charset="0"/>
                <a:ea typeface="Calibri" pitchFamily="34" charset="-122"/>
                <a:cs typeface="Calibri" pitchFamily="34" charset="-120"/>
              </a:rPr>
              <a:t>Network Security Groups</a:t>
            </a:r>
            <a:endParaRPr lang="en-US" sz="1400" dirty="0"/>
          </a:p>
        </p:txBody>
      </p:sp>
      <p:sp>
        <p:nvSpPr>
          <p:cNvPr id="13" name="Text 11"/>
          <p:cNvSpPr/>
          <p:nvPr/>
        </p:nvSpPr>
        <p:spPr>
          <a:xfrm>
            <a:off x="4480560" y="2971800"/>
            <a:ext cx="2880360" cy="594360"/>
          </a:xfrm>
          <a:prstGeom prst="rect">
            <a:avLst/>
          </a:prstGeom>
          <a:noFill/>
          <a:ln/>
        </p:spPr>
        <p:txBody>
          <a:bodyPr wrap="square" lIns="0" tIns="0" rIns="0" bIns="0" rtlCol="0" anchor="ctr"/>
          <a:lstStyle/>
          <a:p>
            <a:pPr marL="0" indent="0">
              <a:lnSpc>
                <a:spcPct val="115000"/>
              </a:lnSpc>
              <a:buNone/>
            </a:pPr>
            <a:r>
              <a:rPr lang="en-US" sz="1100" dirty="0">
                <a:solidFill>
                  <a:srgbClr val="5B6B79"/>
                </a:solidFill>
                <a:latin typeface="Calibri" pitchFamily="34" charset="0"/>
                <a:ea typeface="Calibri" pitchFamily="34" charset="-122"/>
                <a:cs typeface="Calibri" pitchFamily="34" charset="-120"/>
              </a:rPr>
              <a:t>Enforce inbound/outbound rules per subnet</a:t>
            </a:r>
            <a:endParaRPr lang="en-US" sz="1100" dirty="0"/>
          </a:p>
        </p:txBody>
      </p:sp>
      <p:sp>
        <p:nvSpPr>
          <p:cNvPr id="14" name="Shape 12"/>
          <p:cNvSpPr/>
          <p:nvPr/>
        </p:nvSpPr>
        <p:spPr>
          <a:xfrm>
            <a:off x="7863840" y="1691640"/>
            <a:ext cx="3429000" cy="1920240"/>
          </a:xfrm>
          <a:prstGeom prst="roundRect">
            <a:avLst>
              <a:gd name="adj" fmla="val 3810"/>
            </a:avLst>
          </a:prstGeom>
          <a:solidFill>
            <a:srgbClr val="F3F6FA"/>
          </a:solidFill>
          <a:ln/>
        </p:spPr>
      </p:sp>
      <p:sp>
        <p:nvSpPr>
          <p:cNvPr id="15" name="Shape 13"/>
          <p:cNvSpPr/>
          <p:nvPr/>
        </p:nvSpPr>
        <p:spPr>
          <a:xfrm>
            <a:off x="8138160" y="1965960"/>
            <a:ext cx="457200" cy="457200"/>
          </a:xfrm>
          <a:prstGeom prst="ellipse">
            <a:avLst/>
          </a:prstGeom>
          <a:solidFill>
            <a:srgbClr val="0078D4"/>
          </a:solidFill>
          <a:ln/>
        </p:spPr>
      </p:sp>
      <p:sp>
        <p:nvSpPr>
          <p:cNvPr id="16" name="Text 14"/>
          <p:cNvSpPr/>
          <p:nvPr/>
        </p:nvSpPr>
        <p:spPr>
          <a:xfrm>
            <a:off x="8138160" y="19659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8138160" y="2560320"/>
            <a:ext cx="2880360" cy="457200"/>
          </a:xfrm>
          <a:prstGeom prst="rect">
            <a:avLst/>
          </a:prstGeom>
          <a:noFill/>
          <a:ln/>
        </p:spPr>
        <p:txBody>
          <a:bodyPr wrap="square" lIns="0" tIns="0" rIns="0" bIns="0" rtlCol="0" anchor="ctr"/>
          <a:lstStyle/>
          <a:p>
            <a:pPr marL="0" indent="0">
              <a:lnSpc>
                <a:spcPct val="105000"/>
              </a:lnSpc>
              <a:buNone/>
            </a:pPr>
            <a:r>
              <a:rPr lang="en-US" sz="1400" b="1" dirty="0">
                <a:solidFill>
                  <a:srgbClr val="1B2733"/>
                </a:solidFill>
                <a:latin typeface="Calibri" pitchFamily="34" charset="0"/>
                <a:ea typeface="Calibri" pitchFamily="34" charset="-122"/>
                <a:cs typeface="Calibri" pitchFamily="34" charset="-120"/>
              </a:rPr>
              <a:t>Application Security Groups</a:t>
            </a:r>
            <a:endParaRPr lang="en-US" sz="1400" dirty="0"/>
          </a:p>
        </p:txBody>
      </p:sp>
      <p:sp>
        <p:nvSpPr>
          <p:cNvPr id="18" name="Text 16"/>
          <p:cNvSpPr/>
          <p:nvPr/>
        </p:nvSpPr>
        <p:spPr>
          <a:xfrm>
            <a:off x="8138160" y="2971800"/>
            <a:ext cx="2880360" cy="594360"/>
          </a:xfrm>
          <a:prstGeom prst="rect">
            <a:avLst/>
          </a:prstGeom>
          <a:noFill/>
          <a:ln/>
        </p:spPr>
        <p:txBody>
          <a:bodyPr wrap="square" lIns="0" tIns="0" rIns="0" bIns="0" rtlCol="0" anchor="ctr"/>
          <a:lstStyle/>
          <a:p>
            <a:pPr marL="0" indent="0">
              <a:lnSpc>
                <a:spcPct val="115000"/>
              </a:lnSpc>
              <a:buNone/>
            </a:pPr>
            <a:r>
              <a:rPr lang="en-US" sz="1100" dirty="0">
                <a:solidFill>
                  <a:srgbClr val="5B6B79"/>
                </a:solidFill>
                <a:latin typeface="Calibri" pitchFamily="34" charset="0"/>
                <a:ea typeface="Calibri" pitchFamily="34" charset="-122"/>
                <a:cs typeface="Calibri" pitchFamily="34" charset="-120"/>
              </a:rPr>
              <a:t>Group workload NICs by role for rule targeting</a:t>
            </a:r>
            <a:endParaRPr lang="en-US" sz="1100" dirty="0"/>
          </a:p>
        </p:txBody>
      </p:sp>
      <p:sp>
        <p:nvSpPr>
          <p:cNvPr id="19" name="Shape 17"/>
          <p:cNvSpPr/>
          <p:nvPr/>
        </p:nvSpPr>
        <p:spPr>
          <a:xfrm>
            <a:off x="548640" y="3840480"/>
            <a:ext cx="3429000" cy="1920240"/>
          </a:xfrm>
          <a:prstGeom prst="roundRect">
            <a:avLst>
              <a:gd name="adj" fmla="val 3810"/>
            </a:avLst>
          </a:prstGeom>
          <a:solidFill>
            <a:srgbClr val="F3F6FA"/>
          </a:solidFill>
          <a:ln/>
        </p:spPr>
      </p:sp>
      <p:sp>
        <p:nvSpPr>
          <p:cNvPr id="20" name="Shape 18"/>
          <p:cNvSpPr/>
          <p:nvPr/>
        </p:nvSpPr>
        <p:spPr>
          <a:xfrm>
            <a:off x="822960" y="4114800"/>
            <a:ext cx="457200" cy="457200"/>
          </a:xfrm>
          <a:prstGeom prst="ellipse">
            <a:avLst/>
          </a:prstGeom>
          <a:solidFill>
            <a:srgbClr val="0A3D62"/>
          </a:solidFill>
          <a:ln/>
        </p:spPr>
      </p:sp>
      <p:sp>
        <p:nvSpPr>
          <p:cNvPr id="21" name="Text 19"/>
          <p:cNvSpPr/>
          <p:nvPr/>
        </p:nvSpPr>
        <p:spPr>
          <a:xfrm>
            <a:off x="822960" y="41148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822960" y="4709160"/>
            <a:ext cx="2880360" cy="457200"/>
          </a:xfrm>
          <a:prstGeom prst="rect">
            <a:avLst/>
          </a:prstGeom>
          <a:noFill/>
          <a:ln/>
        </p:spPr>
        <p:txBody>
          <a:bodyPr wrap="square" lIns="0" tIns="0" rIns="0" bIns="0" rtlCol="0" anchor="ctr"/>
          <a:lstStyle/>
          <a:p>
            <a:pPr marL="0" indent="0">
              <a:lnSpc>
                <a:spcPct val="105000"/>
              </a:lnSpc>
              <a:buNone/>
            </a:pPr>
            <a:r>
              <a:rPr lang="en-US" sz="1400" b="1" dirty="0">
                <a:solidFill>
                  <a:srgbClr val="1B2733"/>
                </a:solidFill>
                <a:latin typeface="Calibri" pitchFamily="34" charset="0"/>
                <a:ea typeface="Calibri" pitchFamily="34" charset="-122"/>
                <a:cs typeface="Calibri" pitchFamily="34" charset="-120"/>
              </a:rPr>
              <a:t>Network Watcher</a:t>
            </a:r>
            <a:endParaRPr lang="en-US" sz="1400" dirty="0"/>
          </a:p>
        </p:txBody>
      </p:sp>
      <p:sp>
        <p:nvSpPr>
          <p:cNvPr id="23" name="Text 21"/>
          <p:cNvSpPr/>
          <p:nvPr/>
        </p:nvSpPr>
        <p:spPr>
          <a:xfrm>
            <a:off x="822960" y="5120640"/>
            <a:ext cx="2880360" cy="594360"/>
          </a:xfrm>
          <a:prstGeom prst="rect">
            <a:avLst/>
          </a:prstGeom>
          <a:noFill/>
          <a:ln/>
        </p:spPr>
        <p:txBody>
          <a:bodyPr wrap="square" lIns="0" tIns="0" rIns="0" bIns="0" rtlCol="0" anchor="ctr"/>
          <a:lstStyle/>
          <a:p>
            <a:pPr marL="0" indent="0">
              <a:lnSpc>
                <a:spcPct val="115000"/>
              </a:lnSpc>
              <a:buNone/>
            </a:pPr>
            <a:r>
              <a:rPr lang="en-US" sz="1100" dirty="0">
                <a:solidFill>
                  <a:srgbClr val="5B6B79"/>
                </a:solidFill>
                <a:latin typeface="Calibri" pitchFamily="34" charset="0"/>
                <a:ea typeface="Calibri" pitchFamily="34" charset="-122"/>
                <a:cs typeface="Calibri" pitchFamily="34" charset="-120"/>
              </a:rPr>
              <a:t>Captures flow logs and effective security rules</a:t>
            </a:r>
            <a:endParaRPr lang="en-US" sz="1100" dirty="0"/>
          </a:p>
        </p:txBody>
      </p:sp>
      <p:sp>
        <p:nvSpPr>
          <p:cNvPr id="24" name="Shape 22"/>
          <p:cNvSpPr/>
          <p:nvPr/>
        </p:nvSpPr>
        <p:spPr>
          <a:xfrm>
            <a:off x="4206240" y="3840480"/>
            <a:ext cx="3429000" cy="1920240"/>
          </a:xfrm>
          <a:prstGeom prst="roundRect">
            <a:avLst>
              <a:gd name="adj" fmla="val 3810"/>
            </a:avLst>
          </a:prstGeom>
          <a:solidFill>
            <a:srgbClr val="F3F6FA"/>
          </a:solidFill>
          <a:ln/>
        </p:spPr>
      </p:sp>
      <p:sp>
        <p:nvSpPr>
          <p:cNvPr id="25" name="Shape 23"/>
          <p:cNvSpPr/>
          <p:nvPr/>
        </p:nvSpPr>
        <p:spPr>
          <a:xfrm>
            <a:off x="4480560" y="4114800"/>
            <a:ext cx="457200" cy="457200"/>
          </a:xfrm>
          <a:prstGeom prst="ellipse">
            <a:avLst/>
          </a:prstGeom>
          <a:solidFill>
            <a:srgbClr val="0078D4"/>
          </a:solidFill>
          <a:ln/>
        </p:spPr>
      </p:sp>
      <p:sp>
        <p:nvSpPr>
          <p:cNvPr id="26" name="Text 24"/>
          <p:cNvSpPr/>
          <p:nvPr/>
        </p:nvSpPr>
        <p:spPr>
          <a:xfrm>
            <a:off x="4480560" y="41148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4480560" y="4709160"/>
            <a:ext cx="2880360" cy="457200"/>
          </a:xfrm>
          <a:prstGeom prst="rect">
            <a:avLst/>
          </a:prstGeom>
          <a:noFill/>
          <a:ln/>
        </p:spPr>
        <p:txBody>
          <a:bodyPr wrap="square" lIns="0" tIns="0" rIns="0" bIns="0" rtlCol="0" anchor="ctr"/>
          <a:lstStyle/>
          <a:p>
            <a:pPr marL="0" indent="0">
              <a:lnSpc>
                <a:spcPct val="105000"/>
              </a:lnSpc>
              <a:buNone/>
            </a:pPr>
            <a:r>
              <a:rPr lang="en-US" sz="1400" b="1" dirty="0">
                <a:solidFill>
                  <a:srgbClr val="1B2733"/>
                </a:solidFill>
                <a:latin typeface="Calibri" pitchFamily="34" charset="0"/>
                <a:ea typeface="Calibri" pitchFamily="34" charset="-122"/>
                <a:cs typeface="Calibri" pitchFamily="34" charset="-120"/>
              </a:rPr>
              <a:t>Azure Monitor / Log Analytics</a:t>
            </a:r>
            <a:endParaRPr lang="en-US" sz="1400" dirty="0"/>
          </a:p>
        </p:txBody>
      </p:sp>
      <p:sp>
        <p:nvSpPr>
          <p:cNvPr id="28" name="Text 26"/>
          <p:cNvSpPr/>
          <p:nvPr/>
        </p:nvSpPr>
        <p:spPr>
          <a:xfrm>
            <a:off x="4480560" y="5120640"/>
            <a:ext cx="2880360" cy="594360"/>
          </a:xfrm>
          <a:prstGeom prst="rect">
            <a:avLst/>
          </a:prstGeom>
          <a:noFill/>
          <a:ln/>
        </p:spPr>
        <p:txBody>
          <a:bodyPr wrap="square" lIns="0" tIns="0" rIns="0" bIns="0" rtlCol="0" anchor="ctr"/>
          <a:lstStyle/>
          <a:p>
            <a:pPr marL="0" indent="0">
              <a:lnSpc>
                <a:spcPct val="115000"/>
              </a:lnSpc>
              <a:buNone/>
            </a:pPr>
            <a:r>
              <a:rPr lang="en-US" sz="1100" dirty="0">
                <a:solidFill>
                  <a:srgbClr val="5B6B79"/>
                </a:solidFill>
                <a:latin typeface="Calibri" pitchFamily="34" charset="0"/>
                <a:ea typeface="Calibri" pitchFamily="34" charset="-122"/>
                <a:cs typeface="Calibri" pitchFamily="34" charset="-120"/>
              </a:rPr>
              <a:t>Central store for rule and traffic telemetry</a:t>
            </a:r>
            <a:endParaRPr lang="en-US" sz="1100" dirty="0"/>
          </a:p>
        </p:txBody>
      </p:sp>
      <p:sp>
        <p:nvSpPr>
          <p:cNvPr id="29" name="Shape 27"/>
          <p:cNvSpPr/>
          <p:nvPr/>
        </p:nvSpPr>
        <p:spPr>
          <a:xfrm>
            <a:off x="7863840" y="3840480"/>
            <a:ext cx="3429000" cy="1920240"/>
          </a:xfrm>
          <a:prstGeom prst="roundRect">
            <a:avLst>
              <a:gd name="adj" fmla="val 3810"/>
            </a:avLst>
          </a:prstGeom>
          <a:solidFill>
            <a:srgbClr val="F3F6FA"/>
          </a:solidFill>
          <a:ln/>
        </p:spPr>
      </p:sp>
      <p:sp>
        <p:nvSpPr>
          <p:cNvPr id="30" name="Shape 28"/>
          <p:cNvSpPr/>
          <p:nvPr/>
        </p:nvSpPr>
        <p:spPr>
          <a:xfrm>
            <a:off x="8138160" y="4114800"/>
            <a:ext cx="457200" cy="457200"/>
          </a:xfrm>
          <a:prstGeom prst="ellipse">
            <a:avLst/>
          </a:prstGeom>
          <a:solidFill>
            <a:srgbClr val="0A3D62"/>
          </a:solidFill>
          <a:ln/>
        </p:spPr>
      </p:sp>
      <p:sp>
        <p:nvSpPr>
          <p:cNvPr id="31" name="Text 29"/>
          <p:cNvSpPr/>
          <p:nvPr/>
        </p:nvSpPr>
        <p:spPr>
          <a:xfrm>
            <a:off x="8138160" y="41148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p:nvPr/>
        </p:nvSpPr>
        <p:spPr>
          <a:xfrm>
            <a:off x="8138160" y="4709160"/>
            <a:ext cx="2880360" cy="457200"/>
          </a:xfrm>
          <a:prstGeom prst="rect">
            <a:avLst/>
          </a:prstGeom>
          <a:noFill/>
          <a:ln/>
        </p:spPr>
        <p:txBody>
          <a:bodyPr wrap="square" lIns="0" tIns="0" rIns="0" bIns="0" rtlCol="0" anchor="ctr"/>
          <a:lstStyle/>
          <a:p>
            <a:pPr marL="0" indent="0">
              <a:lnSpc>
                <a:spcPct val="105000"/>
              </a:lnSpc>
              <a:buNone/>
            </a:pPr>
            <a:r>
              <a:rPr lang="en-US" sz="1400" b="1" dirty="0">
                <a:solidFill>
                  <a:srgbClr val="1B2733"/>
                </a:solidFill>
                <a:latin typeface="Calibri" pitchFamily="34" charset="0"/>
                <a:ea typeface="Calibri" pitchFamily="34" charset="-122"/>
                <a:cs typeface="Calibri" pitchFamily="34" charset="-120"/>
              </a:rPr>
              <a:t>Azure Policy</a:t>
            </a:r>
            <a:endParaRPr lang="en-US" sz="1400" dirty="0"/>
          </a:p>
        </p:txBody>
      </p:sp>
      <p:sp>
        <p:nvSpPr>
          <p:cNvPr id="33" name="Text 31"/>
          <p:cNvSpPr/>
          <p:nvPr/>
        </p:nvSpPr>
        <p:spPr>
          <a:xfrm>
            <a:off x="8138160" y="5120640"/>
            <a:ext cx="2880360" cy="594360"/>
          </a:xfrm>
          <a:prstGeom prst="rect">
            <a:avLst/>
          </a:prstGeom>
          <a:noFill/>
          <a:ln/>
        </p:spPr>
        <p:txBody>
          <a:bodyPr wrap="square" lIns="0" tIns="0" rIns="0" bIns="0" rtlCol="0" anchor="ctr"/>
          <a:lstStyle/>
          <a:p>
            <a:pPr marL="0" indent="0">
              <a:lnSpc>
                <a:spcPct val="115000"/>
              </a:lnSpc>
              <a:buNone/>
            </a:pPr>
            <a:r>
              <a:rPr lang="en-US" sz="1100" dirty="0">
                <a:solidFill>
                  <a:srgbClr val="5B6B79"/>
                </a:solidFill>
                <a:latin typeface="Calibri" pitchFamily="34" charset="0"/>
                <a:ea typeface="Calibri" pitchFamily="34" charset="-122"/>
                <a:cs typeface="Calibri" pitchFamily="34" charset="-120"/>
              </a:rPr>
              <a:t>Flags rules that bypass the ASG convention</a:t>
            </a:r>
            <a:endParaRPr lang="en-US" sz="1100" dirty="0"/>
          </a:p>
        </p:txBody>
      </p:sp>
      <p:sp>
        <p:nvSpPr>
          <p:cNvPr id="34" name="Text 32"/>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B6B79"/>
                </a:solidFill>
                <a:latin typeface="Calibri" pitchFamily="34" charset="0"/>
                <a:ea typeface="Calibri" pitchFamily="34" charset="-122"/>
                <a:cs typeface="Calibri" pitchFamily="34" charset="-120"/>
              </a:rPr>
              <a:t>Azure NSG &amp; ASG Rule Rationalisation</a:t>
            </a:r>
            <a:endParaRPr lang="en-US" sz="900" dirty="0"/>
          </a:p>
        </p:txBody>
      </p:sp>
      <p:sp>
        <p:nvSpPr>
          <p:cNvPr id="35" name="Text 33"/>
          <p:cNvSpPr/>
          <p:nvPr/>
        </p:nvSpPr>
        <p:spPr>
          <a:xfrm>
            <a:off x="9601200" y="6510528"/>
            <a:ext cx="2130552" cy="274320"/>
          </a:xfrm>
          <a:prstGeom prst="rect">
            <a:avLst/>
          </a:prstGeom>
          <a:noFill/>
          <a:ln/>
        </p:spPr>
        <p:txBody>
          <a:bodyPr wrap="square" lIns="0" tIns="0" rIns="0" bIns="0"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24CC3046-P028</a:t>
            </a:r>
            <a:endParaRPr lang="en-US" sz="900" dirty="0"/>
          </a:p>
        </p:txBody>
      </p:sp>
    </p:spTree>
    <p:extLst>
      <p:ext uri="{BB962C8B-B14F-4D97-AF65-F5344CB8AC3E}">
        <p14:creationId xmlns:p14="http://schemas.microsoft.com/office/powerpoint/2010/main" val="897668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8229600" cy="320040"/>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SOLUTION ARCHITECTURE</a:t>
            </a:r>
            <a:endParaRPr lang="en-US" sz="1200" dirty="0"/>
          </a:p>
        </p:txBody>
      </p:sp>
      <p:sp>
        <p:nvSpPr>
          <p:cNvPr id="3" name="Text 1"/>
          <p:cNvSpPr/>
          <p:nvPr/>
        </p:nvSpPr>
        <p:spPr>
          <a:xfrm>
            <a:off x="548640" y="777240"/>
            <a:ext cx="10789920" cy="685800"/>
          </a:xfrm>
          <a:prstGeom prst="rect">
            <a:avLst/>
          </a:prstGeom>
          <a:noFill/>
          <a:ln/>
        </p:spPr>
        <p:txBody>
          <a:bodyPr wrap="square" lIns="0" tIns="0" rIns="0" bIns="0" rtlCol="0" anchor="ctr"/>
          <a:lstStyle/>
          <a:p>
            <a:pPr marL="0" indent="0">
              <a:buNone/>
            </a:pPr>
            <a:r>
              <a:rPr lang="en-US" sz="2600" b="1" dirty="0">
                <a:solidFill>
                  <a:srgbClr val="1B2733"/>
                </a:solidFill>
                <a:latin typeface="Cambria" pitchFamily="34" charset="0"/>
                <a:ea typeface="Cambria" pitchFamily="34" charset="-122"/>
                <a:cs typeface="Cambria" pitchFamily="34" charset="-120"/>
              </a:rPr>
              <a:t>Tiered subnets, each guarded by an NSG and ASGs</a:t>
            </a:r>
            <a:endParaRPr lang="en-US" sz="2600" dirty="0"/>
          </a:p>
        </p:txBody>
      </p:sp>
      <p:sp>
        <p:nvSpPr>
          <p:cNvPr id="4" name="Shape 2"/>
          <p:cNvSpPr/>
          <p:nvPr/>
        </p:nvSpPr>
        <p:spPr>
          <a:xfrm>
            <a:off x="320040" y="2834640"/>
            <a:ext cx="914400" cy="914400"/>
          </a:xfrm>
          <a:prstGeom prst="ellipse">
            <a:avLst/>
          </a:prstGeom>
          <a:solidFill>
            <a:srgbClr val="F3F6FA"/>
          </a:solidFill>
          <a:ln w="19050">
            <a:solidFill>
              <a:srgbClr val="C9D6E4"/>
            </a:solidFill>
            <a:prstDash val="solid"/>
          </a:ln>
        </p:spPr>
      </p:sp>
      <p:sp>
        <p:nvSpPr>
          <p:cNvPr id="5" name="Text 3"/>
          <p:cNvSpPr/>
          <p:nvPr/>
        </p:nvSpPr>
        <p:spPr>
          <a:xfrm>
            <a:off x="320040" y="2834640"/>
            <a:ext cx="914400" cy="914400"/>
          </a:xfrm>
          <a:prstGeom prst="rect">
            <a:avLst/>
          </a:prstGeom>
          <a:noFill/>
          <a:ln/>
        </p:spPr>
        <p:txBody>
          <a:bodyPr wrap="square" lIns="0" tIns="0" rIns="0" bIns="0" rtlCol="0" anchor="ctr"/>
          <a:lstStyle/>
          <a:p>
            <a:pPr marL="0" indent="0" algn="ctr">
              <a:buNone/>
            </a:pPr>
            <a:r>
              <a:rPr lang="en-US" sz="1200" b="1" dirty="0">
                <a:solidFill>
                  <a:srgbClr val="5B6B79"/>
                </a:solidFill>
                <a:latin typeface="Calibri" pitchFamily="34" charset="0"/>
                <a:ea typeface="Calibri" pitchFamily="34" charset="-122"/>
                <a:cs typeface="Calibri" pitchFamily="34" charset="-120"/>
              </a:rPr>
              <a:t>Users</a:t>
            </a:r>
            <a:endParaRPr lang="en-US" sz="1200" dirty="0"/>
          </a:p>
        </p:txBody>
      </p:sp>
      <p:sp>
        <p:nvSpPr>
          <p:cNvPr id="7" name="Text 5"/>
          <p:cNvSpPr/>
          <p:nvPr/>
        </p:nvSpPr>
        <p:spPr>
          <a:xfrm>
            <a:off x="2377440" y="1874520"/>
            <a:ext cx="3657600" cy="274320"/>
          </a:xfrm>
          <a:prstGeom prst="rect">
            <a:avLst/>
          </a:prstGeom>
          <a:noFill/>
          <a:ln/>
        </p:spPr>
        <p:txBody>
          <a:bodyPr wrap="square" lIns="0" tIns="0" rIns="0" bIns="0" rtlCol="0" anchor="ctr"/>
          <a:lstStyle/>
          <a:p>
            <a:pPr marL="0" indent="0">
              <a:buNone/>
            </a:pPr>
            <a:r>
              <a:rPr lang="en-US" sz="1050" b="1" kern="0" spc="150" dirty="0">
                <a:solidFill>
                  <a:srgbClr val="5B6B79"/>
                </a:solidFill>
                <a:latin typeface="Calibri" pitchFamily="34" charset="0"/>
                <a:ea typeface="Calibri" pitchFamily="34" charset="-122"/>
                <a:cs typeface="Calibri" pitchFamily="34" charset="-120"/>
              </a:rPr>
              <a:t>VIRTUAL NETWORK</a:t>
            </a:r>
            <a:endParaRPr lang="en-US" sz="1050" dirty="0"/>
          </a:p>
        </p:txBody>
      </p:sp>
      <p:sp>
        <p:nvSpPr>
          <p:cNvPr id="8" name="Shape 6"/>
          <p:cNvSpPr/>
          <p:nvPr/>
        </p:nvSpPr>
        <p:spPr>
          <a:xfrm>
            <a:off x="2423159" y="2331720"/>
            <a:ext cx="3111367" cy="3017520"/>
          </a:xfrm>
          <a:prstGeom prst="roundRect">
            <a:avLst>
              <a:gd name="adj" fmla="val 2623"/>
            </a:avLst>
          </a:prstGeom>
          <a:solidFill>
            <a:srgbClr val="F3F6FA"/>
          </a:solidFill>
          <a:ln w="15875">
            <a:solidFill>
              <a:srgbClr val="0078D4"/>
            </a:solidFill>
            <a:prstDash val="solid"/>
          </a:ln>
        </p:spPr>
      </p:sp>
      <p:sp>
        <p:nvSpPr>
          <p:cNvPr id="9" name="Text 7"/>
          <p:cNvSpPr/>
          <p:nvPr/>
        </p:nvSpPr>
        <p:spPr>
          <a:xfrm>
            <a:off x="2606040" y="2514600"/>
            <a:ext cx="2423160" cy="365760"/>
          </a:xfrm>
          <a:prstGeom prst="rect">
            <a:avLst/>
          </a:prstGeom>
          <a:noFill/>
          <a:ln/>
        </p:spPr>
        <p:txBody>
          <a:bodyPr wrap="square" lIns="0" tIns="0" rIns="0" bIns="0" rtlCol="0" anchor="ctr"/>
          <a:lstStyle/>
          <a:p>
            <a:pPr marL="0" indent="0">
              <a:buNone/>
            </a:pPr>
            <a:r>
              <a:rPr lang="en-US" sz="1400" b="1" dirty="0">
                <a:solidFill>
                  <a:srgbClr val="1B2733"/>
                </a:solidFill>
                <a:latin typeface="Calibri" pitchFamily="34" charset="0"/>
                <a:ea typeface="Calibri" pitchFamily="34" charset="-122"/>
                <a:cs typeface="Calibri" pitchFamily="34" charset="-120"/>
              </a:rPr>
              <a:t>Web Subnet</a:t>
            </a:r>
            <a:endParaRPr lang="en-US" sz="1400" dirty="0"/>
          </a:p>
        </p:txBody>
      </p:sp>
      <p:sp>
        <p:nvSpPr>
          <p:cNvPr id="10" name="Shape 8"/>
          <p:cNvSpPr/>
          <p:nvPr/>
        </p:nvSpPr>
        <p:spPr>
          <a:xfrm>
            <a:off x="2606040" y="2926080"/>
            <a:ext cx="2784106" cy="502920"/>
          </a:xfrm>
          <a:prstGeom prst="roundRect">
            <a:avLst>
              <a:gd name="adj" fmla="val 50909"/>
            </a:avLst>
          </a:prstGeom>
          <a:solidFill>
            <a:srgbClr val="0078D4"/>
          </a:solidFill>
          <a:ln/>
        </p:spPr>
      </p:sp>
      <p:sp>
        <p:nvSpPr>
          <p:cNvPr id="11" name="Text 9"/>
          <p:cNvSpPr/>
          <p:nvPr/>
        </p:nvSpPr>
        <p:spPr>
          <a:xfrm>
            <a:off x="2606040" y="2971800"/>
            <a:ext cx="242316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     NSG-Web</a:t>
            </a:r>
            <a:endParaRPr lang="en-US" sz="1250" dirty="0"/>
          </a:p>
        </p:txBody>
      </p:sp>
      <p:sp>
        <p:nvSpPr>
          <p:cNvPr id="12" name="Shape 10"/>
          <p:cNvSpPr/>
          <p:nvPr/>
        </p:nvSpPr>
        <p:spPr>
          <a:xfrm>
            <a:off x="2606039" y="3657600"/>
            <a:ext cx="2832233" cy="502920"/>
          </a:xfrm>
          <a:prstGeom prst="roundRect">
            <a:avLst>
              <a:gd name="adj" fmla="val 14545"/>
            </a:avLst>
          </a:prstGeom>
          <a:solidFill>
            <a:srgbClr val="FFFFFF"/>
          </a:solidFill>
          <a:ln w="12700">
            <a:solidFill>
              <a:srgbClr val="0078D4"/>
            </a:solidFill>
            <a:prstDash val="solid"/>
          </a:ln>
        </p:spPr>
      </p:sp>
      <p:sp>
        <p:nvSpPr>
          <p:cNvPr id="13" name="Text 11"/>
          <p:cNvSpPr/>
          <p:nvPr/>
        </p:nvSpPr>
        <p:spPr>
          <a:xfrm>
            <a:off x="2606040" y="3657600"/>
            <a:ext cx="2423160" cy="502920"/>
          </a:xfrm>
          <a:prstGeom prst="rect">
            <a:avLst/>
          </a:prstGeom>
          <a:noFill/>
          <a:ln/>
        </p:spPr>
        <p:txBody>
          <a:bodyPr wrap="square" lIns="0" tIns="0" rIns="0" bIns="0" rtlCol="0" anchor="ctr"/>
          <a:lstStyle/>
          <a:p>
            <a:pPr marL="0" indent="0" algn="ctr">
              <a:buNone/>
            </a:pPr>
            <a:r>
              <a:rPr lang="en-US" sz="1150" dirty="0">
                <a:solidFill>
                  <a:srgbClr val="0078D4"/>
                </a:solidFill>
                <a:latin typeface="Calibri" pitchFamily="34" charset="0"/>
                <a:ea typeface="Calibri" pitchFamily="34" charset="-122"/>
                <a:cs typeface="Calibri" pitchFamily="34" charset="-120"/>
              </a:rPr>
              <a:t>ASG-Web-Tier</a:t>
            </a:r>
            <a:endParaRPr lang="en-US" sz="1150" dirty="0"/>
          </a:p>
        </p:txBody>
      </p:sp>
      <p:sp>
        <p:nvSpPr>
          <p:cNvPr id="14" name="Text 12"/>
          <p:cNvSpPr/>
          <p:nvPr/>
        </p:nvSpPr>
        <p:spPr>
          <a:xfrm>
            <a:off x="2606039" y="4343400"/>
            <a:ext cx="2784107" cy="822960"/>
          </a:xfrm>
          <a:prstGeom prst="rect">
            <a:avLst/>
          </a:prstGeom>
          <a:noFill/>
          <a:ln/>
        </p:spPr>
        <p:txBody>
          <a:bodyPr wrap="square" lIns="0" tIns="0" rIns="0" bIns="0" rtlCol="0" anchor="ctr"/>
          <a:lstStyle/>
          <a:p>
            <a:pPr marL="0" indent="0" algn="ctr">
              <a:buNone/>
            </a:pPr>
            <a:r>
              <a:rPr lang="en-US" sz="1100" dirty="0">
                <a:solidFill>
                  <a:srgbClr val="5B6B79"/>
                </a:solidFill>
                <a:latin typeface="Calibri" pitchFamily="34" charset="0"/>
                <a:ea typeface="Calibri" pitchFamily="34" charset="-122"/>
                <a:cs typeface="Calibri" pitchFamily="34" charset="-120"/>
              </a:rPr>
              <a:t>VM · VM · VM</a:t>
            </a:r>
            <a:endParaRPr lang="en-US" sz="1100" dirty="0"/>
          </a:p>
        </p:txBody>
      </p:sp>
      <p:sp>
        <p:nvSpPr>
          <p:cNvPr id="15" name="Shape 13"/>
          <p:cNvSpPr/>
          <p:nvPr/>
        </p:nvSpPr>
        <p:spPr>
          <a:xfrm>
            <a:off x="5534526" y="3794760"/>
            <a:ext cx="409072" cy="0"/>
          </a:xfrm>
          <a:prstGeom prst="line">
            <a:avLst/>
          </a:prstGeom>
          <a:noFill/>
          <a:ln w="25400">
            <a:solidFill>
              <a:srgbClr val="9AAEC4"/>
            </a:solidFill>
            <a:prstDash val="solid"/>
            <a:tailEnd type="triangle"/>
          </a:ln>
        </p:spPr>
        <p:txBody>
          <a:bodyPr/>
          <a:lstStyle/>
          <a:p>
            <a:endParaRPr lang="en-US" dirty="0"/>
          </a:p>
        </p:txBody>
      </p:sp>
      <p:sp>
        <p:nvSpPr>
          <p:cNvPr id="16" name="Shape 14"/>
          <p:cNvSpPr/>
          <p:nvPr/>
        </p:nvSpPr>
        <p:spPr>
          <a:xfrm>
            <a:off x="5943599" y="2331720"/>
            <a:ext cx="3315903" cy="3017520"/>
          </a:xfrm>
          <a:prstGeom prst="roundRect">
            <a:avLst>
              <a:gd name="adj" fmla="val 2623"/>
            </a:avLst>
          </a:prstGeom>
          <a:solidFill>
            <a:srgbClr val="F3F6FA"/>
          </a:solidFill>
          <a:ln w="15875">
            <a:solidFill>
              <a:srgbClr val="0A3D62"/>
            </a:solidFill>
            <a:prstDash val="solid"/>
          </a:ln>
        </p:spPr>
      </p:sp>
      <p:sp>
        <p:nvSpPr>
          <p:cNvPr id="17" name="Text 15"/>
          <p:cNvSpPr/>
          <p:nvPr/>
        </p:nvSpPr>
        <p:spPr>
          <a:xfrm>
            <a:off x="6035040" y="2514600"/>
            <a:ext cx="2057400" cy="411480"/>
          </a:xfrm>
          <a:prstGeom prst="rect">
            <a:avLst/>
          </a:prstGeom>
          <a:noFill/>
          <a:ln/>
        </p:spPr>
        <p:txBody>
          <a:bodyPr wrap="square" lIns="0" tIns="0" rIns="0" bIns="0" rtlCol="0" anchor="ctr"/>
          <a:lstStyle/>
          <a:p>
            <a:pPr marL="0" indent="0">
              <a:buNone/>
            </a:pPr>
            <a:r>
              <a:rPr lang="en-US" sz="1400" b="1" dirty="0">
                <a:solidFill>
                  <a:srgbClr val="1B2733"/>
                </a:solidFill>
                <a:latin typeface="Calibri" pitchFamily="34" charset="0"/>
                <a:ea typeface="Calibri" pitchFamily="34" charset="-122"/>
                <a:cs typeface="Calibri" pitchFamily="34" charset="-120"/>
              </a:rPr>
              <a:t>App Subnet</a:t>
            </a:r>
            <a:endParaRPr lang="en-US" sz="1400" dirty="0"/>
          </a:p>
        </p:txBody>
      </p:sp>
      <p:sp>
        <p:nvSpPr>
          <p:cNvPr id="18" name="Shape 16"/>
          <p:cNvSpPr/>
          <p:nvPr/>
        </p:nvSpPr>
        <p:spPr>
          <a:xfrm>
            <a:off x="6355080" y="2971800"/>
            <a:ext cx="2423160" cy="502920"/>
          </a:xfrm>
          <a:prstGeom prst="roundRect">
            <a:avLst>
              <a:gd name="adj" fmla="val 50909"/>
            </a:avLst>
          </a:prstGeom>
          <a:solidFill>
            <a:srgbClr val="0A3D62"/>
          </a:solidFill>
          <a:ln/>
        </p:spPr>
      </p:sp>
      <p:sp>
        <p:nvSpPr>
          <p:cNvPr id="19" name="Text 17"/>
          <p:cNvSpPr/>
          <p:nvPr/>
        </p:nvSpPr>
        <p:spPr>
          <a:xfrm>
            <a:off x="6096000" y="2971800"/>
            <a:ext cx="199644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                       NSG-App</a:t>
            </a:r>
            <a:endParaRPr lang="en-US" sz="1250" dirty="0"/>
          </a:p>
        </p:txBody>
      </p:sp>
      <p:sp>
        <p:nvSpPr>
          <p:cNvPr id="20" name="Shape 18"/>
          <p:cNvSpPr/>
          <p:nvPr/>
        </p:nvSpPr>
        <p:spPr>
          <a:xfrm>
            <a:off x="6355080" y="3657600"/>
            <a:ext cx="2423160" cy="502920"/>
          </a:xfrm>
          <a:prstGeom prst="roundRect">
            <a:avLst>
              <a:gd name="adj" fmla="val 14545"/>
            </a:avLst>
          </a:prstGeom>
          <a:solidFill>
            <a:srgbClr val="FFFFFF"/>
          </a:solidFill>
          <a:ln w="12700">
            <a:solidFill>
              <a:srgbClr val="0A3D62"/>
            </a:solidFill>
            <a:prstDash val="solid"/>
          </a:ln>
        </p:spPr>
      </p:sp>
      <p:sp>
        <p:nvSpPr>
          <p:cNvPr id="21" name="Text 19"/>
          <p:cNvSpPr/>
          <p:nvPr/>
        </p:nvSpPr>
        <p:spPr>
          <a:xfrm>
            <a:off x="5669280" y="3657600"/>
            <a:ext cx="2423160" cy="502920"/>
          </a:xfrm>
          <a:prstGeom prst="rect">
            <a:avLst/>
          </a:prstGeom>
          <a:noFill/>
          <a:ln/>
        </p:spPr>
        <p:txBody>
          <a:bodyPr wrap="square" lIns="0" tIns="0" rIns="0" bIns="0" rtlCol="0" anchor="ctr"/>
          <a:lstStyle/>
          <a:p>
            <a:pPr marL="0" indent="0" algn="ctr">
              <a:buNone/>
            </a:pPr>
            <a:r>
              <a:rPr lang="en-US" sz="1150" dirty="0">
                <a:solidFill>
                  <a:srgbClr val="0A3D62"/>
                </a:solidFill>
                <a:latin typeface="Calibri" pitchFamily="34" charset="0"/>
                <a:ea typeface="Calibri" pitchFamily="34" charset="-122"/>
                <a:cs typeface="Calibri" pitchFamily="34" charset="-120"/>
              </a:rPr>
              <a:t>                      ASG-App-Tier</a:t>
            </a:r>
            <a:endParaRPr lang="en-US" sz="1150" dirty="0"/>
          </a:p>
        </p:txBody>
      </p:sp>
      <p:sp>
        <p:nvSpPr>
          <p:cNvPr id="22" name="Text 20"/>
          <p:cNvSpPr/>
          <p:nvPr/>
        </p:nvSpPr>
        <p:spPr>
          <a:xfrm>
            <a:off x="5669279" y="4343400"/>
            <a:ext cx="3311091" cy="822960"/>
          </a:xfrm>
          <a:prstGeom prst="rect">
            <a:avLst/>
          </a:prstGeom>
          <a:noFill/>
          <a:ln/>
        </p:spPr>
        <p:txBody>
          <a:bodyPr wrap="square" lIns="0" tIns="0" rIns="0" bIns="0" rtlCol="0" anchor="ctr"/>
          <a:lstStyle/>
          <a:p>
            <a:pPr marL="0" indent="0" algn="ctr">
              <a:buNone/>
            </a:pPr>
            <a:r>
              <a:rPr lang="en-US" sz="1100" dirty="0">
                <a:solidFill>
                  <a:srgbClr val="5B6B79"/>
                </a:solidFill>
                <a:latin typeface="Calibri" pitchFamily="34" charset="0"/>
                <a:ea typeface="Calibri" pitchFamily="34" charset="-122"/>
                <a:cs typeface="Calibri" pitchFamily="34" charset="-120"/>
              </a:rPr>
              <a:t> VM · VM · VM</a:t>
            </a:r>
            <a:endParaRPr lang="en-US" sz="1100" dirty="0"/>
          </a:p>
        </p:txBody>
      </p:sp>
      <p:sp>
        <p:nvSpPr>
          <p:cNvPr id="27" name="Text 25"/>
          <p:cNvSpPr/>
          <p:nvPr/>
        </p:nvSpPr>
        <p:spPr>
          <a:xfrm>
            <a:off x="8732520" y="2971800"/>
            <a:ext cx="242316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NSG-Data</a:t>
            </a:r>
            <a:endParaRPr lang="en-US" sz="1250" dirty="0"/>
          </a:p>
        </p:txBody>
      </p:sp>
      <p:sp>
        <p:nvSpPr>
          <p:cNvPr id="29" name="Text 27"/>
          <p:cNvSpPr/>
          <p:nvPr/>
        </p:nvSpPr>
        <p:spPr>
          <a:xfrm>
            <a:off x="8732520" y="3657600"/>
            <a:ext cx="2423160" cy="502920"/>
          </a:xfrm>
          <a:prstGeom prst="rect">
            <a:avLst/>
          </a:prstGeom>
          <a:noFill/>
          <a:ln/>
        </p:spPr>
        <p:txBody>
          <a:bodyPr wrap="square" lIns="0" tIns="0" rIns="0" bIns="0" rtlCol="0" anchor="ctr"/>
          <a:lstStyle/>
          <a:p>
            <a:pPr marL="0" indent="0" algn="ctr">
              <a:buNone/>
            </a:pPr>
            <a:endParaRPr lang="en-US" sz="1150" dirty="0"/>
          </a:p>
        </p:txBody>
      </p:sp>
      <p:sp>
        <p:nvSpPr>
          <p:cNvPr id="30" name="Text 28"/>
          <p:cNvSpPr/>
          <p:nvPr/>
        </p:nvSpPr>
        <p:spPr>
          <a:xfrm>
            <a:off x="8732520" y="4343400"/>
            <a:ext cx="2423160" cy="822960"/>
          </a:xfrm>
          <a:prstGeom prst="rect">
            <a:avLst/>
          </a:prstGeom>
          <a:noFill/>
          <a:ln/>
        </p:spPr>
        <p:txBody>
          <a:bodyPr wrap="square" lIns="0" tIns="0" rIns="0" bIns="0" rtlCol="0" anchor="ctr"/>
          <a:lstStyle/>
          <a:p>
            <a:pPr marL="0" indent="0" algn="ctr">
              <a:buNone/>
            </a:pPr>
            <a:endParaRPr lang="en-US" sz="1100" dirty="0"/>
          </a:p>
        </p:txBody>
      </p:sp>
      <p:sp>
        <p:nvSpPr>
          <p:cNvPr id="31" name="Shape 29"/>
          <p:cNvSpPr/>
          <p:nvPr/>
        </p:nvSpPr>
        <p:spPr>
          <a:xfrm>
            <a:off x="1234440" y="3291840"/>
            <a:ext cx="914400" cy="0"/>
          </a:xfrm>
          <a:prstGeom prst="line">
            <a:avLst/>
          </a:prstGeom>
          <a:noFill/>
          <a:ln w="25400">
            <a:solidFill>
              <a:srgbClr val="9AAEC4"/>
            </a:solidFill>
            <a:prstDash val="solid"/>
            <a:tailEnd type="triangle"/>
          </a:ln>
        </p:spPr>
      </p:sp>
      <p:sp>
        <p:nvSpPr>
          <p:cNvPr id="32" name="Text 30"/>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B6B79"/>
                </a:solidFill>
                <a:latin typeface="Calibri" pitchFamily="34" charset="0"/>
                <a:ea typeface="Calibri" pitchFamily="34" charset="-122"/>
                <a:cs typeface="Calibri" pitchFamily="34" charset="-120"/>
              </a:rPr>
              <a:t>Azure NSG &amp; ASG Rule Rationalisation</a:t>
            </a:r>
            <a:endParaRPr lang="en-US" sz="900" dirty="0"/>
          </a:p>
        </p:txBody>
      </p:sp>
      <p:sp>
        <p:nvSpPr>
          <p:cNvPr id="33" name="Text 31"/>
          <p:cNvSpPr/>
          <p:nvPr/>
        </p:nvSpPr>
        <p:spPr>
          <a:xfrm>
            <a:off x="9601200" y="6510528"/>
            <a:ext cx="2130552" cy="274320"/>
          </a:xfrm>
          <a:prstGeom prst="rect">
            <a:avLst/>
          </a:prstGeom>
          <a:noFill/>
          <a:ln/>
        </p:spPr>
        <p:txBody>
          <a:bodyPr wrap="square" lIns="0" tIns="0" rIns="0" bIns="0"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24CC3046-P028</a:t>
            </a:r>
            <a:endParaRPr lang="en-US" sz="900" dirty="0"/>
          </a:p>
        </p:txBody>
      </p:sp>
    </p:spTree>
    <p:extLst>
      <p:ext uri="{BB962C8B-B14F-4D97-AF65-F5344CB8AC3E}">
        <p14:creationId xmlns:p14="http://schemas.microsoft.com/office/powerpoint/2010/main" val="3914437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8229600" cy="320040"/>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CHALLENGES FACED &amp; SOLUTIONS</a:t>
            </a:r>
            <a:endParaRPr lang="en-US" sz="1200" dirty="0"/>
          </a:p>
        </p:txBody>
      </p:sp>
      <p:sp>
        <p:nvSpPr>
          <p:cNvPr id="3" name="Text 1"/>
          <p:cNvSpPr/>
          <p:nvPr/>
        </p:nvSpPr>
        <p:spPr>
          <a:xfrm>
            <a:off x="548640" y="777240"/>
            <a:ext cx="10789920" cy="685800"/>
          </a:xfrm>
          <a:prstGeom prst="rect">
            <a:avLst/>
          </a:prstGeom>
          <a:noFill/>
          <a:ln/>
        </p:spPr>
        <p:txBody>
          <a:bodyPr wrap="square" lIns="0" tIns="0" rIns="0" bIns="0" rtlCol="0" anchor="ctr"/>
          <a:lstStyle/>
          <a:p>
            <a:pPr marL="0" indent="0">
              <a:buNone/>
            </a:pPr>
            <a:r>
              <a:rPr lang="en-US" sz="2600" b="1" dirty="0">
                <a:solidFill>
                  <a:srgbClr val="1B2733"/>
                </a:solidFill>
                <a:latin typeface="Cambria" pitchFamily="34" charset="0"/>
                <a:ea typeface="Cambria" pitchFamily="34" charset="-122"/>
                <a:cs typeface="Cambria" pitchFamily="34" charset="-120"/>
              </a:rPr>
              <a:t>What made this hard, and how it was handled</a:t>
            </a:r>
            <a:endParaRPr lang="en-US" sz="2600" dirty="0"/>
          </a:p>
        </p:txBody>
      </p:sp>
      <p:sp>
        <p:nvSpPr>
          <p:cNvPr id="4" name="Shape 2"/>
          <p:cNvSpPr/>
          <p:nvPr/>
        </p:nvSpPr>
        <p:spPr>
          <a:xfrm>
            <a:off x="548640" y="1737360"/>
            <a:ext cx="10881360" cy="2011680"/>
          </a:xfrm>
          <a:prstGeom prst="roundRect">
            <a:avLst>
              <a:gd name="adj" fmla="val 3636"/>
            </a:avLst>
          </a:prstGeom>
          <a:solidFill>
            <a:srgbClr val="F3F6FA"/>
          </a:solidFill>
          <a:ln/>
        </p:spPr>
      </p:sp>
      <p:sp>
        <p:nvSpPr>
          <p:cNvPr id="5" name="Shape 3"/>
          <p:cNvSpPr/>
          <p:nvPr/>
        </p:nvSpPr>
        <p:spPr>
          <a:xfrm>
            <a:off x="822960" y="1938528"/>
            <a:ext cx="365760" cy="365760"/>
          </a:xfrm>
          <a:prstGeom prst="ellipse">
            <a:avLst/>
          </a:prstGeom>
          <a:solidFill>
            <a:srgbClr val="0078D4"/>
          </a:solidFill>
          <a:ln/>
        </p:spPr>
      </p:sp>
      <p:sp>
        <p:nvSpPr>
          <p:cNvPr id="6" name="Text 4"/>
          <p:cNvSpPr/>
          <p:nvPr/>
        </p:nvSpPr>
        <p:spPr>
          <a:xfrm>
            <a:off x="822960" y="193852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325880" y="1920240"/>
            <a:ext cx="4480560" cy="274320"/>
          </a:xfrm>
          <a:prstGeom prst="rect">
            <a:avLst/>
          </a:prstGeom>
          <a:noFill/>
          <a:ln/>
        </p:spPr>
        <p:txBody>
          <a:bodyPr wrap="square" lIns="0" tIns="0" rIns="0" bIns="0" rtlCol="0" anchor="ctr"/>
          <a:lstStyle/>
          <a:p>
            <a:pPr marL="0" indent="0">
              <a:buNone/>
            </a:pPr>
            <a:r>
              <a:rPr lang="en-US" sz="1050" b="1" kern="0" spc="150" dirty="0">
                <a:solidFill>
                  <a:srgbClr val="0078D4"/>
                </a:solidFill>
                <a:latin typeface="Calibri" pitchFamily="34" charset="0"/>
                <a:ea typeface="Calibri" pitchFamily="34" charset="-122"/>
                <a:cs typeface="Calibri" pitchFamily="34" charset="-120"/>
              </a:rPr>
              <a:t>CHALLENGE</a:t>
            </a:r>
            <a:endParaRPr lang="en-US" sz="1050" dirty="0"/>
          </a:p>
        </p:txBody>
      </p:sp>
      <p:sp>
        <p:nvSpPr>
          <p:cNvPr id="8" name="Text 6"/>
          <p:cNvSpPr/>
          <p:nvPr/>
        </p:nvSpPr>
        <p:spPr>
          <a:xfrm>
            <a:off x="868680" y="2286000"/>
            <a:ext cx="4937760" cy="1325880"/>
          </a:xfrm>
          <a:prstGeom prst="rect">
            <a:avLst/>
          </a:prstGeom>
          <a:noFill/>
          <a:ln/>
        </p:spPr>
        <p:txBody>
          <a:bodyPr wrap="square" lIns="0" tIns="0" rIns="0" bIns="0" rtlCol="0" anchor="ctr"/>
          <a:lstStyle/>
          <a:p>
            <a:pPr marL="0" indent="0">
              <a:lnSpc>
                <a:spcPct val="125000"/>
              </a:lnSpc>
              <a:buNone/>
            </a:pPr>
            <a:r>
              <a:rPr lang="en-US" sz="1250" dirty="0">
                <a:solidFill>
                  <a:srgbClr val="1B2733"/>
                </a:solidFill>
                <a:latin typeface="Calibri" pitchFamily="34" charset="0"/>
                <a:ea typeface="Calibri" pitchFamily="34" charset="-122"/>
                <a:cs typeface="Calibri" pitchFamily="34" charset="-120"/>
              </a:rPr>
              <a:t>Rule priority conflicts caused unexpected blocking when ASG rules were introduced alongside legacy IP rules.</a:t>
            </a:r>
            <a:endParaRPr lang="en-US" sz="1250" dirty="0"/>
          </a:p>
        </p:txBody>
      </p:sp>
      <p:sp>
        <p:nvSpPr>
          <p:cNvPr id="9" name="Text 7"/>
          <p:cNvSpPr/>
          <p:nvPr/>
        </p:nvSpPr>
        <p:spPr>
          <a:xfrm>
            <a:off x="6035040" y="1920240"/>
            <a:ext cx="5120640" cy="274320"/>
          </a:xfrm>
          <a:prstGeom prst="rect">
            <a:avLst/>
          </a:prstGeom>
          <a:noFill/>
          <a:ln/>
        </p:spPr>
        <p:txBody>
          <a:bodyPr wrap="square" lIns="0" tIns="0" rIns="0" bIns="0" rtlCol="0" anchor="ctr"/>
          <a:lstStyle/>
          <a:p>
            <a:pPr marL="0" indent="0">
              <a:buNone/>
            </a:pPr>
            <a:r>
              <a:rPr lang="en-US" sz="1050" b="1" kern="0" spc="150" dirty="0">
                <a:solidFill>
                  <a:srgbClr val="0078D4"/>
                </a:solidFill>
                <a:latin typeface="Calibri" pitchFamily="34" charset="0"/>
                <a:ea typeface="Calibri" pitchFamily="34" charset="-122"/>
                <a:cs typeface="Calibri" pitchFamily="34" charset="-120"/>
              </a:rPr>
              <a:t>SOLUTION</a:t>
            </a:r>
            <a:endParaRPr lang="en-US" sz="1050" dirty="0"/>
          </a:p>
        </p:txBody>
      </p:sp>
      <p:sp>
        <p:nvSpPr>
          <p:cNvPr id="10" name="Text 8"/>
          <p:cNvSpPr/>
          <p:nvPr/>
        </p:nvSpPr>
        <p:spPr>
          <a:xfrm>
            <a:off x="6035040" y="2286000"/>
            <a:ext cx="5120640" cy="1325880"/>
          </a:xfrm>
          <a:prstGeom prst="rect">
            <a:avLst/>
          </a:prstGeom>
          <a:noFill/>
          <a:ln/>
        </p:spPr>
        <p:txBody>
          <a:bodyPr wrap="square" lIns="0" tIns="0" rIns="0" bIns="0" rtlCol="0" anchor="ctr"/>
          <a:lstStyle/>
          <a:p>
            <a:pPr marL="0" indent="0">
              <a:lnSpc>
                <a:spcPct val="125000"/>
              </a:lnSpc>
              <a:buNone/>
            </a:pPr>
            <a:r>
              <a:rPr lang="en-US" sz="1250" dirty="0">
                <a:solidFill>
                  <a:srgbClr val="5B6B79"/>
                </a:solidFill>
                <a:latin typeface="Calibri" pitchFamily="34" charset="0"/>
                <a:ea typeface="Calibri" pitchFamily="34" charset="-122"/>
                <a:cs typeface="Calibri" pitchFamily="34" charset="-120"/>
              </a:rPr>
              <a:t>Reserved priority bands per rule category, validated with Effective Security Rules before and after each change, migrated one NSG at a time.</a:t>
            </a:r>
            <a:endParaRPr lang="en-US" sz="1250" dirty="0"/>
          </a:p>
        </p:txBody>
      </p:sp>
      <p:sp>
        <p:nvSpPr>
          <p:cNvPr id="11" name="Shape 9"/>
          <p:cNvSpPr/>
          <p:nvPr/>
        </p:nvSpPr>
        <p:spPr>
          <a:xfrm>
            <a:off x="548640" y="3977640"/>
            <a:ext cx="10881360" cy="2011680"/>
          </a:xfrm>
          <a:prstGeom prst="roundRect">
            <a:avLst>
              <a:gd name="adj" fmla="val 3636"/>
            </a:avLst>
          </a:prstGeom>
          <a:solidFill>
            <a:srgbClr val="F3F6FA"/>
          </a:solidFill>
          <a:ln/>
        </p:spPr>
      </p:sp>
      <p:sp>
        <p:nvSpPr>
          <p:cNvPr id="12" name="Shape 10"/>
          <p:cNvSpPr/>
          <p:nvPr/>
        </p:nvSpPr>
        <p:spPr>
          <a:xfrm>
            <a:off x="822960" y="4178808"/>
            <a:ext cx="365760" cy="365760"/>
          </a:xfrm>
          <a:prstGeom prst="ellipse">
            <a:avLst/>
          </a:prstGeom>
          <a:solidFill>
            <a:srgbClr val="0A3D62"/>
          </a:solidFill>
          <a:ln/>
        </p:spPr>
      </p:sp>
      <p:sp>
        <p:nvSpPr>
          <p:cNvPr id="13" name="Text 11"/>
          <p:cNvSpPr/>
          <p:nvPr/>
        </p:nvSpPr>
        <p:spPr>
          <a:xfrm>
            <a:off x="822960" y="41788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1325880" y="4160520"/>
            <a:ext cx="4480560" cy="274320"/>
          </a:xfrm>
          <a:prstGeom prst="rect">
            <a:avLst/>
          </a:prstGeom>
          <a:noFill/>
          <a:ln/>
        </p:spPr>
        <p:txBody>
          <a:bodyPr wrap="square" lIns="0" tIns="0" rIns="0" bIns="0" rtlCol="0" anchor="ctr"/>
          <a:lstStyle/>
          <a:p>
            <a:pPr marL="0" indent="0">
              <a:buNone/>
            </a:pPr>
            <a:r>
              <a:rPr lang="en-US" sz="1050" b="1" kern="0" spc="150" dirty="0">
                <a:solidFill>
                  <a:srgbClr val="0A3D62"/>
                </a:solidFill>
                <a:latin typeface="Calibri" pitchFamily="34" charset="0"/>
                <a:ea typeface="Calibri" pitchFamily="34" charset="-122"/>
                <a:cs typeface="Calibri" pitchFamily="34" charset="-120"/>
              </a:rPr>
              <a:t>CHALLENGE</a:t>
            </a:r>
            <a:endParaRPr lang="en-US" sz="1050" dirty="0"/>
          </a:p>
        </p:txBody>
      </p:sp>
      <p:sp>
        <p:nvSpPr>
          <p:cNvPr id="15" name="Text 13"/>
          <p:cNvSpPr/>
          <p:nvPr/>
        </p:nvSpPr>
        <p:spPr>
          <a:xfrm>
            <a:off x="868680" y="4526280"/>
            <a:ext cx="4937760" cy="1325880"/>
          </a:xfrm>
          <a:prstGeom prst="rect">
            <a:avLst/>
          </a:prstGeom>
          <a:noFill/>
          <a:ln/>
        </p:spPr>
        <p:txBody>
          <a:bodyPr wrap="square" lIns="0" tIns="0" rIns="0" bIns="0" rtlCol="0" anchor="ctr"/>
          <a:lstStyle/>
          <a:p>
            <a:pPr marL="0" indent="0">
              <a:lnSpc>
                <a:spcPct val="125000"/>
              </a:lnSpc>
              <a:buNone/>
            </a:pPr>
            <a:r>
              <a:rPr lang="en-US" sz="1250" dirty="0">
                <a:solidFill>
                  <a:srgbClr val="1B2733"/>
                </a:solidFill>
                <a:latin typeface="Calibri" pitchFamily="34" charset="0"/>
                <a:ea typeface="Calibri" pitchFamily="34" charset="-122"/>
                <a:cs typeface="Calibri" pitchFamily="34" charset="-120"/>
              </a:rPr>
              <a:t>Effective security rules were hard to reason about once NSGs, subnets, and ASGs all contributed to a resource's exposure.</a:t>
            </a:r>
            <a:endParaRPr lang="en-US" sz="1250" dirty="0"/>
          </a:p>
        </p:txBody>
      </p:sp>
      <p:sp>
        <p:nvSpPr>
          <p:cNvPr id="16" name="Text 14"/>
          <p:cNvSpPr/>
          <p:nvPr/>
        </p:nvSpPr>
        <p:spPr>
          <a:xfrm>
            <a:off x="6035040" y="4160520"/>
            <a:ext cx="5120640" cy="274320"/>
          </a:xfrm>
          <a:prstGeom prst="rect">
            <a:avLst/>
          </a:prstGeom>
          <a:noFill/>
          <a:ln/>
        </p:spPr>
        <p:txBody>
          <a:bodyPr wrap="square" lIns="0" tIns="0" rIns="0" bIns="0" rtlCol="0" anchor="ctr"/>
          <a:lstStyle/>
          <a:p>
            <a:pPr marL="0" indent="0">
              <a:buNone/>
            </a:pPr>
            <a:r>
              <a:rPr lang="en-US" sz="1050" b="1" kern="0" spc="150" dirty="0">
                <a:solidFill>
                  <a:srgbClr val="0A3D62"/>
                </a:solidFill>
                <a:latin typeface="Calibri" pitchFamily="34" charset="0"/>
                <a:ea typeface="Calibri" pitchFamily="34" charset="-122"/>
                <a:cs typeface="Calibri" pitchFamily="34" charset="-120"/>
              </a:rPr>
              <a:t>SOLUTION</a:t>
            </a:r>
            <a:endParaRPr lang="en-US" sz="1050" dirty="0"/>
          </a:p>
        </p:txBody>
      </p:sp>
      <p:sp>
        <p:nvSpPr>
          <p:cNvPr id="17" name="Text 15"/>
          <p:cNvSpPr/>
          <p:nvPr/>
        </p:nvSpPr>
        <p:spPr>
          <a:xfrm>
            <a:off x="6035040" y="4526280"/>
            <a:ext cx="5120640" cy="1325880"/>
          </a:xfrm>
          <a:prstGeom prst="rect">
            <a:avLst/>
          </a:prstGeom>
          <a:noFill/>
          <a:ln/>
        </p:spPr>
        <p:txBody>
          <a:bodyPr wrap="square" lIns="0" tIns="0" rIns="0" bIns="0" rtlCol="0" anchor="ctr"/>
          <a:lstStyle/>
          <a:p>
            <a:pPr marL="0" indent="0">
              <a:lnSpc>
                <a:spcPct val="125000"/>
              </a:lnSpc>
              <a:buNone/>
            </a:pPr>
            <a:r>
              <a:rPr lang="en-US" sz="1250" dirty="0">
                <a:solidFill>
                  <a:srgbClr val="5B6B79"/>
                </a:solidFill>
                <a:latin typeface="Calibri" pitchFamily="34" charset="0"/>
                <a:ea typeface="Calibri" pitchFamily="34" charset="-122"/>
                <a:cs typeface="Calibri" pitchFamily="34" charset="-120"/>
              </a:rPr>
              <a:t>Baselined the real effective ruleset per NIC first, then consolidated duplicates into ASG-scoped rules and cross-checked against flow logs.</a:t>
            </a:r>
            <a:endParaRPr lang="en-US" sz="1250" dirty="0"/>
          </a:p>
        </p:txBody>
      </p:sp>
      <p:sp>
        <p:nvSpPr>
          <p:cNvPr id="18" name="Text 16"/>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B6B79"/>
                </a:solidFill>
                <a:latin typeface="Calibri" pitchFamily="34" charset="0"/>
                <a:ea typeface="Calibri" pitchFamily="34" charset="-122"/>
                <a:cs typeface="Calibri" pitchFamily="34" charset="-120"/>
              </a:rPr>
              <a:t>Azure NSG &amp; ASG Rule Rationalisation</a:t>
            </a:r>
            <a:endParaRPr lang="en-US" sz="900" dirty="0"/>
          </a:p>
        </p:txBody>
      </p:sp>
      <p:sp>
        <p:nvSpPr>
          <p:cNvPr id="19" name="Text 17"/>
          <p:cNvSpPr/>
          <p:nvPr/>
        </p:nvSpPr>
        <p:spPr>
          <a:xfrm>
            <a:off x="9601200" y="6510528"/>
            <a:ext cx="2130552" cy="274320"/>
          </a:xfrm>
          <a:prstGeom prst="rect">
            <a:avLst/>
          </a:prstGeom>
          <a:noFill/>
          <a:ln/>
        </p:spPr>
        <p:txBody>
          <a:bodyPr wrap="square" lIns="0" tIns="0" rIns="0" bIns="0"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24CC3046-P028</a:t>
            </a:r>
            <a:endParaRPr lang="en-US" sz="900" dirty="0"/>
          </a:p>
        </p:txBody>
      </p:sp>
    </p:spTree>
    <p:extLst>
      <p:ext uri="{BB962C8B-B14F-4D97-AF65-F5344CB8AC3E}">
        <p14:creationId xmlns:p14="http://schemas.microsoft.com/office/powerpoint/2010/main" val="3324806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828800" y="4114800"/>
            <a:ext cx="5486400" cy="5486400"/>
          </a:xfrm>
          <a:prstGeom prst="ellipse">
            <a:avLst/>
          </a:prstGeom>
          <a:solidFill>
            <a:srgbClr val="263477"/>
          </a:solidFill>
          <a:ln/>
        </p:spPr>
      </p:sp>
      <p:sp>
        <p:nvSpPr>
          <p:cNvPr id="3" name="Text 1"/>
          <p:cNvSpPr txBox="1"/>
          <p:nvPr/>
        </p:nvSpPr>
        <p:spPr>
          <a:xfrm>
            <a:off x="548640" y="457200"/>
            <a:ext cx="5486400" cy="320040"/>
          </a:xfrm>
          <a:prstGeom prst="rect">
            <a:avLst/>
          </a:prstGeom>
          <a:noFill/>
          <a:ln/>
        </p:spPr>
        <p:txBody>
          <a:bodyPr wrap="square" lIns="0" tIns="0" rIns="0" bIns="0"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SUMMARY</a:t>
            </a:r>
            <a:endParaRPr lang="en-US" sz="1200" dirty="0"/>
          </a:p>
        </p:txBody>
      </p:sp>
      <p:sp>
        <p:nvSpPr>
          <p:cNvPr id="4" name="Text 2"/>
          <p:cNvSpPr txBox="1"/>
          <p:nvPr/>
        </p:nvSpPr>
        <p:spPr>
          <a:xfrm>
            <a:off x="548640" y="777240"/>
            <a:ext cx="109728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From Rule Sprawl to a Rationalised NSG Design</a:t>
            </a:r>
            <a:endParaRPr lang="en-US" sz="2800" dirty="0"/>
          </a:p>
        </p:txBody>
      </p:sp>
      <p:sp>
        <p:nvSpPr>
          <p:cNvPr id="5" name="Shape 3"/>
          <p:cNvSpPr/>
          <p:nvPr/>
        </p:nvSpPr>
        <p:spPr>
          <a:xfrm>
            <a:off x="554584" y="2011680"/>
            <a:ext cx="2011680" cy="1371600"/>
          </a:xfrm>
          <a:prstGeom prst="roundRect">
            <a:avLst>
              <a:gd name="adj" fmla="val 5333"/>
            </a:avLst>
          </a:prstGeom>
          <a:solidFill>
            <a:srgbClr val="263477"/>
          </a:solidFill>
          <a:ln w="9525">
            <a:solidFill>
              <a:srgbClr val="CADCFC"/>
            </a:solidFill>
            <a:prstDash val="solid"/>
          </a:ln>
        </p:spPr>
      </p:sp>
      <p:sp>
        <p:nvSpPr>
          <p:cNvPr id="6" name="Text 4"/>
          <p:cNvSpPr txBox="1"/>
          <p:nvPr/>
        </p:nvSpPr>
        <p:spPr>
          <a:xfrm>
            <a:off x="554584" y="2011680"/>
            <a:ext cx="2011680" cy="1371600"/>
          </a:xfrm>
          <a:prstGeom prst="rect">
            <a:avLst/>
          </a:prstGeom>
          <a:noFill/>
          <a:ln/>
        </p:spPr>
        <p:txBody>
          <a:bodyPr wrap="square" lIns="0" tIns="0" rIns="0" bIns="0" rtlCol="0" anchor="ctr"/>
          <a:lstStyle/>
          <a:p>
            <a:pPr marL="0" indent="0" algn="ctr">
              <a:lnSpc>
                <a:spcPct val="110000"/>
              </a:lnSpc>
              <a:buNone/>
            </a:pPr>
            <a:r>
              <a:rPr lang="en-US" sz="1300" b="1" dirty="0">
                <a:solidFill>
                  <a:srgbClr val="CADCFC"/>
                </a:solidFill>
                <a:latin typeface="Calibri" pitchFamily="34" charset="0"/>
                <a:ea typeface="Calibri" pitchFamily="34" charset="-122"/>
                <a:cs typeface="Calibri" pitchFamily="34" charset="-120"/>
              </a:rPr>
              <a:t>Assess</a:t>
            </a:r>
            <a:endParaRPr lang="en-US" sz="1300" dirty="0"/>
          </a:p>
          <a:p>
            <a:pPr marL="0" indent="0" algn="ctr">
              <a:lnSpc>
                <a:spcPct val="110000"/>
              </a:lnSpc>
              <a:buNone/>
            </a:pPr>
            <a:r>
              <a:rPr lang="en-US" sz="1300" b="1" dirty="0">
                <a:solidFill>
                  <a:srgbClr val="CADCFC"/>
                </a:solidFill>
                <a:latin typeface="Calibri" pitchFamily="34" charset="0"/>
                <a:ea typeface="Calibri" pitchFamily="34" charset="-122"/>
                <a:cs typeface="Calibri" pitchFamily="34" charset="-120"/>
              </a:rPr>
              <a:t>current rules</a:t>
            </a:r>
            <a:endParaRPr lang="en-US" sz="1300" dirty="0"/>
          </a:p>
        </p:txBody>
      </p:sp>
      <p:sp>
        <p:nvSpPr>
          <p:cNvPr id="7" name="Shape 5"/>
          <p:cNvSpPr/>
          <p:nvPr/>
        </p:nvSpPr>
        <p:spPr>
          <a:xfrm>
            <a:off x="2584552" y="2542032"/>
            <a:ext cx="219456" cy="320040"/>
          </a:xfrm>
          <a:prstGeom prst="rightArrow">
            <a:avLst/>
          </a:prstGeom>
          <a:solidFill>
            <a:srgbClr val="E8A33D"/>
          </a:solidFill>
          <a:ln/>
        </p:spPr>
      </p:sp>
      <p:sp>
        <p:nvSpPr>
          <p:cNvPr id="8" name="Shape 6"/>
          <p:cNvSpPr/>
          <p:nvPr/>
        </p:nvSpPr>
        <p:spPr>
          <a:xfrm>
            <a:off x="2822296" y="2011680"/>
            <a:ext cx="2011680" cy="1371600"/>
          </a:xfrm>
          <a:prstGeom prst="roundRect">
            <a:avLst>
              <a:gd name="adj" fmla="val 5333"/>
            </a:avLst>
          </a:prstGeom>
          <a:solidFill>
            <a:srgbClr val="263477"/>
          </a:solidFill>
          <a:ln w="9525">
            <a:solidFill>
              <a:srgbClr val="CADCFC"/>
            </a:solidFill>
            <a:prstDash val="solid"/>
          </a:ln>
        </p:spPr>
      </p:sp>
      <p:sp>
        <p:nvSpPr>
          <p:cNvPr id="9" name="Text 7"/>
          <p:cNvSpPr txBox="1"/>
          <p:nvPr/>
        </p:nvSpPr>
        <p:spPr>
          <a:xfrm>
            <a:off x="2822296" y="2011680"/>
            <a:ext cx="2011680" cy="1371600"/>
          </a:xfrm>
          <a:prstGeom prst="rect">
            <a:avLst/>
          </a:prstGeom>
          <a:noFill/>
          <a:ln/>
        </p:spPr>
        <p:txBody>
          <a:bodyPr wrap="square" lIns="0" tIns="0" rIns="0" bIns="0" rtlCol="0" anchor="ctr"/>
          <a:lstStyle/>
          <a:p>
            <a:pPr marL="0" indent="0" algn="ctr">
              <a:lnSpc>
                <a:spcPct val="110000"/>
              </a:lnSpc>
              <a:buNone/>
            </a:pPr>
            <a:r>
              <a:rPr lang="en-US" sz="1300" b="1" dirty="0">
                <a:solidFill>
                  <a:srgbClr val="CADCFC"/>
                </a:solidFill>
                <a:latin typeface="Calibri" pitchFamily="34" charset="0"/>
                <a:ea typeface="Calibri" pitchFamily="34" charset="-122"/>
                <a:cs typeface="Calibri" pitchFamily="34" charset="-120"/>
              </a:rPr>
              <a:t>Group into</a:t>
            </a:r>
            <a:endParaRPr lang="en-US" sz="1300" dirty="0"/>
          </a:p>
          <a:p>
            <a:pPr marL="0" indent="0" algn="ctr">
              <a:lnSpc>
                <a:spcPct val="110000"/>
              </a:lnSpc>
              <a:buNone/>
            </a:pPr>
            <a:r>
              <a:rPr lang="en-US" sz="1300" b="1" dirty="0">
                <a:solidFill>
                  <a:srgbClr val="CADCFC"/>
                </a:solidFill>
                <a:latin typeface="Calibri" pitchFamily="34" charset="0"/>
                <a:ea typeface="Calibri" pitchFamily="34" charset="-122"/>
                <a:cs typeface="Calibri" pitchFamily="34" charset="-120"/>
              </a:rPr>
              <a:t>ASGs</a:t>
            </a:r>
            <a:endParaRPr lang="en-US" sz="1300" dirty="0"/>
          </a:p>
        </p:txBody>
      </p:sp>
      <p:sp>
        <p:nvSpPr>
          <p:cNvPr id="10" name="Shape 8"/>
          <p:cNvSpPr/>
          <p:nvPr/>
        </p:nvSpPr>
        <p:spPr>
          <a:xfrm>
            <a:off x="4852264" y="2542032"/>
            <a:ext cx="219456" cy="320040"/>
          </a:xfrm>
          <a:prstGeom prst="rightArrow">
            <a:avLst/>
          </a:prstGeom>
          <a:solidFill>
            <a:srgbClr val="E8A33D"/>
          </a:solidFill>
          <a:ln/>
        </p:spPr>
      </p:sp>
      <p:sp>
        <p:nvSpPr>
          <p:cNvPr id="11" name="Shape 9"/>
          <p:cNvSpPr/>
          <p:nvPr/>
        </p:nvSpPr>
        <p:spPr>
          <a:xfrm>
            <a:off x="5090008" y="2011680"/>
            <a:ext cx="2011680" cy="1371600"/>
          </a:xfrm>
          <a:prstGeom prst="roundRect">
            <a:avLst>
              <a:gd name="adj" fmla="val 5333"/>
            </a:avLst>
          </a:prstGeom>
          <a:solidFill>
            <a:srgbClr val="263477"/>
          </a:solidFill>
          <a:ln w="9525">
            <a:solidFill>
              <a:srgbClr val="CADCFC"/>
            </a:solidFill>
            <a:prstDash val="solid"/>
          </a:ln>
        </p:spPr>
      </p:sp>
      <p:sp>
        <p:nvSpPr>
          <p:cNvPr id="12" name="Text 10"/>
          <p:cNvSpPr txBox="1"/>
          <p:nvPr/>
        </p:nvSpPr>
        <p:spPr>
          <a:xfrm>
            <a:off x="5090008" y="2011680"/>
            <a:ext cx="2011680" cy="1371600"/>
          </a:xfrm>
          <a:prstGeom prst="rect">
            <a:avLst/>
          </a:prstGeom>
          <a:noFill/>
          <a:ln/>
        </p:spPr>
        <p:txBody>
          <a:bodyPr wrap="square" lIns="0" tIns="0" rIns="0" bIns="0" rtlCol="0" anchor="ctr"/>
          <a:lstStyle/>
          <a:p>
            <a:pPr marL="0" indent="0" algn="ctr">
              <a:lnSpc>
                <a:spcPct val="110000"/>
              </a:lnSpc>
              <a:buNone/>
            </a:pPr>
            <a:r>
              <a:rPr lang="en-US" sz="1300" b="1" dirty="0">
                <a:solidFill>
                  <a:srgbClr val="CADCFC"/>
                </a:solidFill>
                <a:latin typeface="Calibri" pitchFamily="34" charset="0"/>
                <a:ea typeface="Calibri" pitchFamily="34" charset="-122"/>
                <a:cs typeface="Calibri" pitchFamily="34" charset="-120"/>
              </a:rPr>
              <a:t>Migrate &amp;</a:t>
            </a:r>
            <a:endParaRPr lang="en-US" sz="1300" dirty="0"/>
          </a:p>
          <a:p>
            <a:pPr marL="0" indent="0" algn="ctr">
              <a:lnSpc>
                <a:spcPct val="110000"/>
              </a:lnSpc>
              <a:buNone/>
            </a:pPr>
            <a:r>
              <a:rPr lang="en-US" sz="1300" b="1" dirty="0">
                <a:solidFill>
                  <a:srgbClr val="CADCFC"/>
                </a:solidFill>
                <a:latin typeface="Calibri" pitchFamily="34" charset="0"/>
                <a:ea typeface="Calibri" pitchFamily="34" charset="-122"/>
                <a:cs typeface="Calibri" pitchFamily="34" charset="-120"/>
              </a:rPr>
              <a:t>validate</a:t>
            </a:r>
            <a:endParaRPr lang="en-US" sz="1300" dirty="0"/>
          </a:p>
        </p:txBody>
      </p:sp>
      <p:sp>
        <p:nvSpPr>
          <p:cNvPr id="13" name="Shape 11"/>
          <p:cNvSpPr/>
          <p:nvPr/>
        </p:nvSpPr>
        <p:spPr>
          <a:xfrm>
            <a:off x="7119976" y="2542032"/>
            <a:ext cx="219456" cy="320040"/>
          </a:xfrm>
          <a:prstGeom prst="rightArrow">
            <a:avLst/>
          </a:prstGeom>
          <a:solidFill>
            <a:srgbClr val="E8A33D"/>
          </a:solidFill>
          <a:ln/>
        </p:spPr>
      </p:sp>
      <p:sp>
        <p:nvSpPr>
          <p:cNvPr id="14" name="Shape 12"/>
          <p:cNvSpPr/>
          <p:nvPr/>
        </p:nvSpPr>
        <p:spPr>
          <a:xfrm>
            <a:off x="7357720" y="2011680"/>
            <a:ext cx="2011680" cy="1371600"/>
          </a:xfrm>
          <a:prstGeom prst="roundRect">
            <a:avLst>
              <a:gd name="adj" fmla="val 5333"/>
            </a:avLst>
          </a:prstGeom>
          <a:solidFill>
            <a:srgbClr val="263477"/>
          </a:solidFill>
          <a:ln w="9525">
            <a:solidFill>
              <a:srgbClr val="CADCFC"/>
            </a:solidFill>
            <a:prstDash val="solid"/>
          </a:ln>
        </p:spPr>
      </p:sp>
      <p:sp>
        <p:nvSpPr>
          <p:cNvPr id="15" name="Text 13"/>
          <p:cNvSpPr txBox="1"/>
          <p:nvPr/>
        </p:nvSpPr>
        <p:spPr>
          <a:xfrm>
            <a:off x="7357720" y="2011680"/>
            <a:ext cx="2011680" cy="1371600"/>
          </a:xfrm>
          <a:prstGeom prst="rect">
            <a:avLst/>
          </a:prstGeom>
          <a:noFill/>
          <a:ln/>
        </p:spPr>
        <p:txBody>
          <a:bodyPr wrap="square" lIns="0" tIns="0" rIns="0" bIns="0" rtlCol="0" anchor="ctr"/>
          <a:lstStyle/>
          <a:p>
            <a:pPr marL="0" indent="0" algn="ctr">
              <a:lnSpc>
                <a:spcPct val="110000"/>
              </a:lnSpc>
              <a:buNone/>
            </a:pPr>
            <a:r>
              <a:rPr lang="en-US" sz="1300" b="1" dirty="0">
                <a:solidFill>
                  <a:srgbClr val="CADCFC"/>
                </a:solidFill>
                <a:latin typeface="Calibri" pitchFamily="34" charset="0"/>
                <a:ea typeface="Calibri" pitchFamily="34" charset="-122"/>
                <a:cs typeface="Calibri" pitchFamily="34" charset="-120"/>
              </a:rPr>
              <a:t>Consolidate</a:t>
            </a:r>
            <a:endParaRPr lang="en-US" sz="1300" dirty="0"/>
          </a:p>
          <a:p>
            <a:pPr marL="0" indent="0" algn="ctr">
              <a:lnSpc>
                <a:spcPct val="110000"/>
              </a:lnSpc>
              <a:buNone/>
            </a:pPr>
            <a:r>
              <a:rPr lang="en-US" sz="1300" b="1" dirty="0">
                <a:solidFill>
                  <a:srgbClr val="CADCFC"/>
                </a:solidFill>
                <a:latin typeface="Calibri" pitchFamily="34" charset="0"/>
                <a:ea typeface="Calibri" pitchFamily="34" charset="-122"/>
                <a:cs typeface="Calibri" pitchFamily="34" charset="-120"/>
              </a:rPr>
              <a:t>rules</a:t>
            </a:r>
            <a:endParaRPr lang="en-US" sz="1300" dirty="0"/>
          </a:p>
        </p:txBody>
      </p:sp>
      <p:sp>
        <p:nvSpPr>
          <p:cNvPr id="16" name="Shape 14"/>
          <p:cNvSpPr/>
          <p:nvPr/>
        </p:nvSpPr>
        <p:spPr>
          <a:xfrm>
            <a:off x="9387688" y="2542032"/>
            <a:ext cx="219456" cy="320040"/>
          </a:xfrm>
          <a:prstGeom prst="rightArrow">
            <a:avLst/>
          </a:prstGeom>
          <a:solidFill>
            <a:srgbClr val="E8A33D"/>
          </a:solidFill>
          <a:ln/>
        </p:spPr>
      </p:sp>
      <p:sp>
        <p:nvSpPr>
          <p:cNvPr id="17" name="Shape 15"/>
          <p:cNvSpPr/>
          <p:nvPr/>
        </p:nvSpPr>
        <p:spPr>
          <a:xfrm>
            <a:off x="9625432" y="2011680"/>
            <a:ext cx="2011680" cy="1371600"/>
          </a:xfrm>
          <a:prstGeom prst="roundRect">
            <a:avLst>
              <a:gd name="adj" fmla="val 5333"/>
            </a:avLst>
          </a:prstGeom>
          <a:solidFill>
            <a:srgbClr val="263477"/>
          </a:solidFill>
          <a:ln w="9525">
            <a:solidFill>
              <a:srgbClr val="CADCFC"/>
            </a:solidFill>
            <a:prstDash val="solid"/>
          </a:ln>
        </p:spPr>
      </p:sp>
      <p:sp>
        <p:nvSpPr>
          <p:cNvPr id="18" name="Text 16"/>
          <p:cNvSpPr txBox="1"/>
          <p:nvPr/>
        </p:nvSpPr>
        <p:spPr>
          <a:xfrm>
            <a:off x="9625432" y="2011680"/>
            <a:ext cx="2011680" cy="1371600"/>
          </a:xfrm>
          <a:prstGeom prst="rect">
            <a:avLst/>
          </a:prstGeom>
          <a:noFill/>
          <a:ln/>
        </p:spPr>
        <p:txBody>
          <a:bodyPr wrap="square" lIns="0" tIns="0" rIns="0" bIns="0" rtlCol="0" anchor="ctr"/>
          <a:lstStyle/>
          <a:p>
            <a:pPr marL="0" indent="0" algn="ctr">
              <a:lnSpc>
                <a:spcPct val="110000"/>
              </a:lnSpc>
              <a:buNone/>
            </a:pPr>
            <a:r>
              <a:rPr lang="en-US" sz="1300" b="1" dirty="0">
                <a:solidFill>
                  <a:srgbClr val="CADCFC"/>
                </a:solidFill>
                <a:latin typeface="Calibri" pitchFamily="34" charset="0"/>
                <a:ea typeface="Calibri" pitchFamily="34" charset="-122"/>
                <a:cs typeface="Calibri" pitchFamily="34" charset="-120"/>
              </a:rPr>
              <a:t>Monitor &amp;</a:t>
            </a:r>
            <a:endParaRPr lang="en-US" sz="1300" dirty="0"/>
          </a:p>
          <a:p>
            <a:pPr marL="0" indent="0" algn="ctr">
              <a:lnSpc>
                <a:spcPct val="110000"/>
              </a:lnSpc>
              <a:buNone/>
            </a:pPr>
            <a:r>
              <a:rPr lang="en-US" sz="1300" b="1" dirty="0">
                <a:solidFill>
                  <a:srgbClr val="CADCFC"/>
                </a:solidFill>
                <a:latin typeface="Calibri" pitchFamily="34" charset="0"/>
                <a:ea typeface="Calibri" pitchFamily="34" charset="-122"/>
                <a:cs typeface="Calibri" pitchFamily="34" charset="-120"/>
              </a:rPr>
              <a:t>prevent sprawl</a:t>
            </a:r>
            <a:endParaRPr lang="en-US" sz="1300" dirty="0"/>
          </a:p>
        </p:txBody>
      </p:sp>
      <p:sp>
        <p:nvSpPr>
          <p:cNvPr id="19" name="Shape 17"/>
          <p:cNvSpPr/>
          <p:nvPr/>
        </p:nvSpPr>
        <p:spPr>
          <a:xfrm>
            <a:off x="554584" y="4023360"/>
            <a:ext cx="11082528" cy="1371600"/>
          </a:xfrm>
          <a:prstGeom prst="roundRect">
            <a:avLst>
              <a:gd name="adj" fmla="val 5333"/>
            </a:avLst>
          </a:prstGeom>
          <a:solidFill>
            <a:srgbClr val="FFFFFF"/>
          </a:solidFill>
          <a:ln/>
        </p:spPr>
      </p:sp>
      <p:sp>
        <p:nvSpPr>
          <p:cNvPr id="20" name="Text 18"/>
          <p:cNvSpPr txBox="1"/>
          <p:nvPr/>
        </p:nvSpPr>
        <p:spPr>
          <a:xfrm>
            <a:off x="920344" y="4023360"/>
            <a:ext cx="10351008" cy="1371600"/>
          </a:xfrm>
          <a:prstGeom prst="rect">
            <a:avLst/>
          </a:prstGeom>
          <a:noFill/>
          <a:ln/>
        </p:spPr>
        <p:txBody>
          <a:bodyPr wrap="square" lIns="0" tIns="0" rIns="0" bIns="0" rtlCol="0" anchor="ctr"/>
          <a:lstStyle/>
          <a:p>
            <a:pPr marL="0" indent="0" algn="ctr">
              <a:lnSpc>
                <a:spcPct val="125000"/>
              </a:lnSpc>
              <a:buNone/>
            </a:pPr>
            <a:r>
              <a:rPr lang="en-US" sz="1500" b="1" dirty="0">
                <a:solidFill>
                  <a:srgbClr val="1E2761"/>
                </a:solidFill>
                <a:latin typeface="Calibri" pitchFamily="34" charset="0"/>
                <a:ea typeface="Calibri" pitchFamily="34" charset="-122"/>
                <a:cs typeface="Calibri" pitchFamily="34" charset="-120"/>
              </a:rPr>
              <a:t>Outcome: fewer, application-aware, auditable NSG rules — cutting operational overhead while strengthening the network security posture.</a:t>
            </a:r>
            <a:endParaRPr lang="en-US" sz="1500" dirty="0"/>
          </a:p>
        </p:txBody>
      </p:sp>
      <p:sp>
        <p:nvSpPr>
          <p:cNvPr id="21" name="Text 19"/>
          <p:cNvSpPr txBox="1"/>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475720" y="6126480"/>
            <a:ext cx="1463040" cy="1463040"/>
          </a:xfrm>
          <a:prstGeom prst="ellipse">
            <a:avLst/>
          </a:prstGeom>
          <a:solidFill>
            <a:srgbClr val="F3F6FA"/>
          </a:solidFill>
          <a:ln/>
        </p:spPr>
      </p:sp>
      <p:sp>
        <p:nvSpPr>
          <p:cNvPr id="3" name="Text 1"/>
          <p:cNvSpPr/>
          <p:nvPr/>
        </p:nvSpPr>
        <p:spPr>
          <a:xfrm>
            <a:off x="548640" y="457200"/>
            <a:ext cx="8229600" cy="320040"/>
          </a:xfrm>
          <a:prstGeom prst="rect">
            <a:avLst/>
          </a:prstGeom>
          <a:noFill/>
          <a:ln/>
        </p:spPr>
        <p:txBody>
          <a:bodyPr wrap="square" lIns="0" tIns="0" rIns="0" bIns="0" rtlCol="0" anchor="ctr"/>
          <a:lstStyle/>
          <a:p>
            <a:pPr marL="0" indent="0">
              <a:buNone/>
            </a:pPr>
            <a:r>
              <a:rPr lang="en-US" sz="1200" b="1" kern="0" spc="200" dirty="0">
                <a:solidFill>
                  <a:srgbClr val="0078D4"/>
                </a:solidFill>
                <a:latin typeface="Calibri" pitchFamily="34" charset="0"/>
                <a:ea typeface="Calibri" pitchFamily="34" charset="-122"/>
                <a:cs typeface="Calibri" pitchFamily="34" charset="-120"/>
              </a:rPr>
              <a:t>FUTURE ENHANCEMENTS</a:t>
            </a:r>
            <a:endParaRPr lang="en-US" sz="1200" dirty="0"/>
          </a:p>
        </p:txBody>
      </p:sp>
      <p:sp>
        <p:nvSpPr>
          <p:cNvPr id="4" name="Text 2"/>
          <p:cNvSpPr/>
          <p:nvPr/>
        </p:nvSpPr>
        <p:spPr>
          <a:xfrm>
            <a:off x="548640" y="777240"/>
            <a:ext cx="10789920" cy="685800"/>
          </a:xfrm>
          <a:prstGeom prst="rect">
            <a:avLst/>
          </a:prstGeom>
          <a:noFill/>
          <a:ln/>
        </p:spPr>
        <p:txBody>
          <a:bodyPr wrap="square" lIns="0" tIns="0" rIns="0" bIns="0" rtlCol="0" anchor="ctr"/>
          <a:lstStyle/>
          <a:p>
            <a:pPr marL="0" indent="0">
              <a:buNone/>
            </a:pPr>
            <a:r>
              <a:rPr lang="en-US" sz="2600" b="1" dirty="0">
                <a:solidFill>
                  <a:srgbClr val="1B2733"/>
                </a:solidFill>
                <a:latin typeface="Cambria" pitchFamily="34" charset="0"/>
                <a:ea typeface="Cambria" pitchFamily="34" charset="-122"/>
                <a:cs typeface="Cambria" pitchFamily="34" charset="-120"/>
              </a:rPr>
              <a:t>Where this goes next</a:t>
            </a:r>
            <a:endParaRPr lang="en-US" sz="2600" dirty="0"/>
          </a:p>
        </p:txBody>
      </p:sp>
      <p:sp>
        <p:nvSpPr>
          <p:cNvPr id="5" name="Shape 3"/>
          <p:cNvSpPr/>
          <p:nvPr/>
        </p:nvSpPr>
        <p:spPr>
          <a:xfrm>
            <a:off x="548640" y="1828800"/>
            <a:ext cx="384048" cy="384048"/>
          </a:xfrm>
          <a:prstGeom prst="ellipse">
            <a:avLst/>
          </a:prstGeom>
          <a:solidFill>
            <a:srgbClr val="0078D4"/>
          </a:solidFill>
          <a:ln/>
        </p:spPr>
      </p:sp>
      <p:sp>
        <p:nvSpPr>
          <p:cNvPr id="6" name="Text 4"/>
          <p:cNvSpPr/>
          <p:nvPr/>
        </p:nvSpPr>
        <p:spPr>
          <a:xfrm>
            <a:off x="548640" y="18288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24231" y="1645920"/>
            <a:ext cx="10040112" cy="777240"/>
          </a:xfrm>
          <a:prstGeom prst="rect">
            <a:avLst/>
          </a:prstGeom>
          <a:noFill/>
          <a:ln/>
        </p:spPr>
        <p:txBody>
          <a:bodyPr wrap="square" lIns="0" tIns="0" rIns="0" bIns="0" rtlCol="0" anchor="ctr"/>
          <a:lstStyle/>
          <a:p>
            <a:pPr marL="0" indent="0">
              <a:lnSpc>
                <a:spcPct val="120000"/>
              </a:lnSpc>
              <a:buNone/>
            </a:pPr>
            <a:r>
              <a:rPr lang="en-US" sz="1500" dirty="0">
                <a:solidFill>
                  <a:srgbClr val="1B2733"/>
                </a:solidFill>
                <a:latin typeface="Calibri" pitchFamily="34" charset="0"/>
                <a:ea typeface="Calibri" pitchFamily="34" charset="-122"/>
                <a:cs typeface="Calibri" pitchFamily="34" charset="-120"/>
              </a:rPr>
              <a:t>Enforce the ASG-only convention automatically via Azure Policy across subscriptions</a:t>
            </a:r>
            <a:endParaRPr lang="en-US" sz="1500" dirty="0"/>
          </a:p>
        </p:txBody>
      </p:sp>
      <p:sp>
        <p:nvSpPr>
          <p:cNvPr id="8" name="Shape 6"/>
          <p:cNvSpPr/>
          <p:nvPr/>
        </p:nvSpPr>
        <p:spPr>
          <a:xfrm>
            <a:off x="548640" y="2606040"/>
            <a:ext cx="384048" cy="384048"/>
          </a:xfrm>
          <a:prstGeom prst="ellipse">
            <a:avLst/>
          </a:prstGeom>
          <a:solidFill>
            <a:srgbClr val="0078D4"/>
          </a:solidFill>
          <a:ln/>
        </p:spPr>
      </p:sp>
      <p:sp>
        <p:nvSpPr>
          <p:cNvPr id="9" name="Text 7"/>
          <p:cNvSpPr/>
          <p:nvPr/>
        </p:nvSpPr>
        <p:spPr>
          <a:xfrm>
            <a:off x="548640" y="260604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15568" y="2532888"/>
            <a:ext cx="10040112" cy="777240"/>
          </a:xfrm>
          <a:prstGeom prst="rect">
            <a:avLst/>
          </a:prstGeom>
          <a:noFill/>
          <a:ln/>
        </p:spPr>
        <p:txBody>
          <a:bodyPr wrap="square" lIns="0" tIns="0" rIns="0" bIns="0" rtlCol="0" anchor="ctr"/>
          <a:lstStyle/>
          <a:p>
            <a:pPr marL="0" indent="0">
              <a:lnSpc>
                <a:spcPct val="120000"/>
              </a:lnSpc>
              <a:buNone/>
            </a:pPr>
            <a:r>
              <a:rPr lang="en-US" sz="1500" dirty="0">
                <a:solidFill>
                  <a:srgbClr val="1B2733"/>
                </a:solidFill>
                <a:latin typeface="Calibri" pitchFamily="34" charset="0"/>
                <a:ea typeface="Calibri" pitchFamily="34" charset="-122"/>
                <a:cs typeface="Calibri" pitchFamily="34" charset="-120"/>
              </a:rPr>
              <a:t>Template the tiered NSG/ASG pattern in Bicep/ARM for new environments</a:t>
            </a:r>
            <a:endParaRPr lang="en-US" sz="1500" dirty="0"/>
          </a:p>
        </p:txBody>
      </p:sp>
      <p:sp>
        <p:nvSpPr>
          <p:cNvPr id="11" name="Shape 9"/>
          <p:cNvSpPr/>
          <p:nvPr/>
        </p:nvSpPr>
        <p:spPr>
          <a:xfrm>
            <a:off x="548640" y="3383280"/>
            <a:ext cx="384048" cy="384048"/>
          </a:xfrm>
          <a:prstGeom prst="ellipse">
            <a:avLst/>
          </a:prstGeom>
          <a:solidFill>
            <a:srgbClr val="0078D4"/>
          </a:solidFill>
          <a:ln/>
        </p:spPr>
      </p:sp>
      <p:sp>
        <p:nvSpPr>
          <p:cNvPr id="12" name="Text 10"/>
          <p:cNvSpPr/>
          <p:nvPr/>
        </p:nvSpPr>
        <p:spPr>
          <a:xfrm>
            <a:off x="548640" y="33832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115568" y="3310128"/>
            <a:ext cx="10040112" cy="777240"/>
          </a:xfrm>
          <a:prstGeom prst="rect">
            <a:avLst/>
          </a:prstGeom>
          <a:noFill/>
          <a:ln/>
        </p:spPr>
        <p:txBody>
          <a:bodyPr wrap="square" lIns="0" tIns="0" rIns="0" bIns="0" rtlCol="0" anchor="ctr"/>
          <a:lstStyle/>
          <a:p>
            <a:pPr marL="0" indent="0">
              <a:lnSpc>
                <a:spcPct val="120000"/>
              </a:lnSpc>
              <a:buNone/>
            </a:pPr>
            <a:r>
              <a:rPr lang="en-US" sz="1500" dirty="0">
                <a:solidFill>
                  <a:srgbClr val="1B2733"/>
                </a:solidFill>
                <a:latin typeface="Calibri" pitchFamily="34" charset="0"/>
                <a:ea typeface="Calibri" pitchFamily="34" charset="-122"/>
                <a:cs typeface="Calibri" pitchFamily="34" charset="-120"/>
              </a:rPr>
              <a:t>Extend rule rationalisation to Azure Firewall policies for hub-and-spoke topologies</a:t>
            </a:r>
            <a:endParaRPr lang="en-US" sz="1500" dirty="0"/>
          </a:p>
        </p:txBody>
      </p:sp>
      <p:sp>
        <p:nvSpPr>
          <p:cNvPr id="14" name="Shape 12"/>
          <p:cNvSpPr/>
          <p:nvPr/>
        </p:nvSpPr>
        <p:spPr>
          <a:xfrm>
            <a:off x="548640" y="4160520"/>
            <a:ext cx="384048" cy="384048"/>
          </a:xfrm>
          <a:prstGeom prst="ellipse">
            <a:avLst/>
          </a:prstGeom>
          <a:solidFill>
            <a:srgbClr val="0078D4"/>
          </a:solidFill>
          <a:ln/>
        </p:spPr>
      </p:sp>
      <p:sp>
        <p:nvSpPr>
          <p:cNvPr id="15" name="Text 13"/>
          <p:cNvSpPr/>
          <p:nvPr/>
        </p:nvSpPr>
        <p:spPr>
          <a:xfrm>
            <a:off x="548640" y="41605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p:nvPr/>
        </p:nvSpPr>
        <p:spPr>
          <a:xfrm>
            <a:off x="1115568" y="4087368"/>
            <a:ext cx="10040112" cy="777240"/>
          </a:xfrm>
          <a:prstGeom prst="rect">
            <a:avLst/>
          </a:prstGeom>
          <a:noFill/>
          <a:ln/>
        </p:spPr>
        <p:txBody>
          <a:bodyPr wrap="square" lIns="0" tIns="0" rIns="0" bIns="0" rtlCol="0" anchor="ctr"/>
          <a:lstStyle/>
          <a:p>
            <a:pPr marL="0" indent="0">
              <a:lnSpc>
                <a:spcPct val="120000"/>
              </a:lnSpc>
              <a:buNone/>
            </a:pPr>
            <a:r>
              <a:rPr lang="en-US" sz="1500" dirty="0">
                <a:solidFill>
                  <a:srgbClr val="1B2733"/>
                </a:solidFill>
                <a:latin typeface="Calibri" pitchFamily="34" charset="0"/>
                <a:ea typeface="Calibri" pitchFamily="34" charset="-122"/>
                <a:cs typeface="Calibri" pitchFamily="34" charset="-120"/>
              </a:rPr>
              <a:t>Add automated drift detection to flag manually added IP-based rules</a:t>
            </a:r>
            <a:endParaRPr lang="en-US" sz="1500" dirty="0"/>
          </a:p>
        </p:txBody>
      </p:sp>
      <p:sp>
        <p:nvSpPr>
          <p:cNvPr id="17" name="Text 15"/>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B6B79"/>
                </a:solidFill>
                <a:latin typeface="Calibri" pitchFamily="34" charset="0"/>
                <a:ea typeface="Calibri" pitchFamily="34" charset="-122"/>
                <a:cs typeface="Calibri" pitchFamily="34" charset="-120"/>
              </a:rPr>
              <a:t>Azure NSG &amp; ASG Rule Rationalisation</a:t>
            </a:r>
            <a:endParaRPr lang="en-US" sz="900" dirty="0"/>
          </a:p>
        </p:txBody>
      </p:sp>
      <p:sp>
        <p:nvSpPr>
          <p:cNvPr id="18" name="Text 16"/>
          <p:cNvSpPr/>
          <p:nvPr/>
        </p:nvSpPr>
        <p:spPr>
          <a:xfrm>
            <a:off x="9601200" y="6510528"/>
            <a:ext cx="2130552" cy="274320"/>
          </a:xfrm>
          <a:prstGeom prst="rect">
            <a:avLst/>
          </a:prstGeom>
          <a:noFill/>
          <a:ln/>
        </p:spPr>
        <p:txBody>
          <a:bodyPr wrap="square" lIns="0" tIns="0" rIns="0" bIns="0"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24CC3046-P028</a:t>
            </a:r>
            <a:endParaRPr lang="en-US" sz="900" dirty="0"/>
          </a:p>
        </p:txBody>
      </p:sp>
    </p:spTree>
    <p:extLst>
      <p:ext uri="{BB962C8B-B14F-4D97-AF65-F5344CB8AC3E}">
        <p14:creationId xmlns:p14="http://schemas.microsoft.com/office/powerpoint/2010/main" val="11552762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BE42501-8324-B93B-33F6-333F4F2CD20C}"/>
              </a:ext>
            </a:extLst>
          </p:cNvPr>
          <p:cNvPicPr>
            <a:picLocks noChangeAspect="1"/>
          </p:cNvPicPr>
          <p:nvPr/>
        </p:nvPicPr>
        <p:blipFill>
          <a:blip r:embed="rId2"/>
          <a:stretch>
            <a:fillRect/>
          </a:stretch>
        </p:blipFill>
        <p:spPr>
          <a:xfrm>
            <a:off x="422529" y="731521"/>
            <a:ext cx="11418690" cy="4712298"/>
          </a:xfrm>
          <a:prstGeom prst="rect">
            <a:avLst/>
          </a:prstGeom>
        </p:spPr>
      </p:pic>
    </p:spTree>
    <p:extLst>
      <p:ext uri="{BB962C8B-B14F-4D97-AF65-F5344CB8AC3E}">
        <p14:creationId xmlns:p14="http://schemas.microsoft.com/office/powerpoint/2010/main" val="765205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14A6CB-3A70-58F2-0DF5-9AF70641953B}"/>
              </a:ext>
            </a:extLst>
          </p:cNvPr>
          <p:cNvPicPr>
            <a:picLocks noChangeAspect="1"/>
          </p:cNvPicPr>
          <p:nvPr/>
        </p:nvPicPr>
        <p:blipFill>
          <a:blip r:embed="rId2"/>
          <a:stretch>
            <a:fillRect/>
          </a:stretch>
        </p:blipFill>
        <p:spPr>
          <a:xfrm>
            <a:off x="0" y="213369"/>
            <a:ext cx="12192000" cy="6431262"/>
          </a:xfrm>
          <a:prstGeom prst="rect">
            <a:avLst/>
          </a:prstGeom>
        </p:spPr>
      </p:pic>
    </p:spTree>
    <p:extLst>
      <p:ext uri="{BB962C8B-B14F-4D97-AF65-F5344CB8AC3E}">
        <p14:creationId xmlns:p14="http://schemas.microsoft.com/office/powerpoint/2010/main" val="27815107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637</TotalTime>
  <Words>1036</Words>
  <Application>Microsoft Office PowerPoint</Application>
  <PresentationFormat>Widescreen</PresentationFormat>
  <Paragraphs>183</Paragraphs>
  <Slides>14</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Cambria</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rasamsetty sunitha</cp:lastModifiedBy>
  <cp:revision>2</cp:revision>
  <dcterms:created xsi:type="dcterms:W3CDTF">2026-09-26T13:32:56Z</dcterms:created>
  <dcterms:modified xsi:type="dcterms:W3CDTF">2026-09-27T04:13:33Z</dcterms:modified>
</cp:coreProperties>
</file>